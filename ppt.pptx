
<file path=[Content_Types].xml><?xml version="1.0" encoding="utf-8"?>
<Types xmlns="http://schemas.openxmlformats.org/package/2006/content-types">
  <Default Extension="fntdata" ContentType="application/x-fontdata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80" r:id="rId20"/>
    <p:sldId id="281" r:id="rId21"/>
    <p:sldId id="274" r:id="rId22"/>
    <p:sldId id="275" r:id="rId23"/>
    <p:sldId id="276" r:id="rId24"/>
    <p:sldId id="277" r:id="rId25"/>
    <p:sldId id="278" r:id="rId26"/>
  </p:sldIdLst>
  <p:sldSz cx="15243175" cy="8577263"/>
  <p:notesSz cx="8577263" cy="15243175"/>
  <p:embeddedFontLst>
    <p:embeddedFont>
      <p:font typeface="Source Han Sans CN Regular" panose="02010600030101010101" charset="-122"/>
      <p:regular r:id="rId28"/>
    </p:embeddedFont>
    <p:embeddedFont>
      <p:font typeface="Barlow" panose="00000500000000000000" pitchFamily="2" charset="0"/>
      <p:regular r:id="rId29"/>
      <p:bold r:id="rId30"/>
      <p:italic r:id="rId31"/>
      <p:boldItalic r:id="rId32"/>
    </p:embeddedFont>
    <p:embeddedFont>
      <p:font typeface="SimSun-ExtG" panose="02010609060101010101" pitchFamily="49" charset="-122"/>
      <p:regular r:id="rId33"/>
    </p:embeddedFont>
    <p:embeddedFont>
      <p:font typeface="等线" panose="02010600030101010101" pitchFamily="2" charset="-122"/>
      <p:regular r:id="rId34"/>
      <p:bold r:id="rId35"/>
    </p:embeddedFont>
    <p:embeddedFont>
      <p:font typeface="等线 Light" panose="02010600030101010101" pitchFamily="2" charset="-122"/>
      <p:regular r:id="rId3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110" y="2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5414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A7F39-B93B-3734-C71D-D71EB0838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288D87-260B-667B-6F6A-10607E0041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632CA2-C91B-EB80-2B21-8345635ACE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0E4191-CEA4-F37E-5E29-E379E79331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0438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A18EC-7FB6-1724-B674-B2CEDA280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5AFA1A-1970-552E-E479-B4401368C0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D3C55B-3D4D-F0C1-F922-DFC98A07D5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188E09-6742-8CF1-71E4-BD639E17D3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42438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Relationship Id="rId9" Type="http://schemas.openxmlformats.org/officeDocument/2006/relationships/image" Target="../media/image1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13" Type="http://schemas.openxmlformats.org/officeDocument/2006/relationships/image" Target="../media/image31.svg"/><Relationship Id="rId3" Type="http://schemas.openxmlformats.org/officeDocument/2006/relationships/image" Target="../media/image21.svg"/><Relationship Id="rId7" Type="http://schemas.openxmlformats.org/officeDocument/2006/relationships/image" Target="../media/image25.svg"/><Relationship Id="rId12" Type="http://schemas.openxmlformats.org/officeDocument/2006/relationships/image" Target="../media/image30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svg"/><Relationship Id="rId11" Type="http://schemas.openxmlformats.org/officeDocument/2006/relationships/image" Target="../media/image29.svg"/><Relationship Id="rId5" Type="http://schemas.openxmlformats.org/officeDocument/2006/relationships/image" Target="../media/image23.sv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svg"/><Relationship Id="rId14" Type="http://schemas.openxmlformats.org/officeDocument/2006/relationships/image" Target="../media/image32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5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4.png"/><Relationship Id="rId5" Type="http://schemas.openxmlformats.org/officeDocument/2006/relationships/image" Target="../media/image33.svg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svg"/><Relationship Id="rId5" Type="http://schemas.openxmlformats.org/officeDocument/2006/relationships/image" Target="../media/image38.svg"/><Relationship Id="rId4" Type="http://schemas.openxmlformats.org/officeDocument/2006/relationships/image" Target="../media/image37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svg"/><Relationship Id="rId5" Type="http://schemas.openxmlformats.org/officeDocument/2006/relationships/image" Target="../media/image42.png"/><Relationship Id="rId4" Type="http://schemas.openxmlformats.org/officeDocument/2006/relationships/image" Target="../media/image4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sv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svg"/><Relationship Id="rId4" Type="http://schemas.openxmlformats.org/officeDocument/2006/relationships/image" Target="../media/image49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svg"/><Relationship Id="rId3" Type="http://schemas.openxmlformats.org/officeDocument/2006/relationships/image" Target="../media/image54.svg"/><Relationship Id="rId7" Type="http://schemas.openxmlformats.org/officeDocument/2006/relationships/image" Target="../media/image58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svg"/><Relationship Id="rId11" Type="http://schemas.openxmlformats.org/officeDocument/2006/relationships/image" Target="../media/image62.svg"/><Relationship Id="rId5" Type="http://schemas.openxmlformats.org/officeDocument/2006/relationships/image" Target="../media/image56.svg"/><Relationship Id="rId10" Type="http://schemas.openxmlformats.org/officeDocument/2006/relationships/image" Target="../media/image61.svg"/><Relationship Id="rId4" Type="http://schemas.openxmlformats.org/officeDocument/2006/relationships/image" Target="../media/image55.svg"/><Relationship Id="rId9" Type="http://schemas.openxmlformats.org/officeDocument/2006/relationships/image" Target="../media/image60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44968" y="5577840"/>
            <a:ext cx="1271016" cy="6675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740664" cy="8567928"/>
          </a:xfrm>
          <a:prstGeom prst="rect">
            <a:avLst/>
          </a:prstGeom>
          <a:solidFill>
            <a:srgbClr val="6DC947"/>
          </a:solidFill>
          <a:ln/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  <p:txBody>
          <a:bodyPr wrap="square" lIns="254" tIns="254" rIns="254" bIns="254" rtlCol="0" anchor="ctr"/>
          <a:lstStyle/>
          <a:p>
            <a:pPr algn="ctr">
              <a:lnSpc>
                <a:spcPct val="125000"/>
              </a:lnSpc>
            </a:pPr>
            <a:r>
              <a:rPr lang="en-US" sz="1400" dirty="0">
                <a:solidFill>
                  <a:srgbClr val="FFFFFF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 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1325880" y="1426464"/>
            <a:ext cx="7168896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ct val="100000"/>
              </a:lnSpc>
            </a:pPr>
            <a:r>
              <a:rPr lang="zh-CN" altLang="en-US" sz="6000"/>
              <a:t>看懂每一步：数据结构与算法可视化学习助手</a:t>
            </a:r>
            <a:endParaRPr lang="en-US" sz="6000" dirty="0"/>
          </a:p>
        </p:txBody>
      </p:sp>
      <p:sp>
        <p:nvSpPr>
          <p:cNvPr id="5" name="Shape 2"/>
          <p:cNvSpPr/>
          <p:nvPr/>
        </p:nvSpPr>
        <p:spPr>
          <a:xfrm>
            <a:off x="1325880" y="7333488"/>
            <a:ext cx="164592" cy="164592"/>
          </a:xfrm>
          <a:prstGeom prst="ellipse">
            <a:avLst/>
          </a:prstGeom>
          <a:solidFill>
            <a:srgbClr val="389E0D"/>
          </a:solidFill>
          <a:ln/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554480" y="7333488"/>
            <a:ext cx="164592" cy="164592"/>
          </a:xfrm>
          <a:prstGeom prst="ellipse">
            <a:avLst/>
          </a:prstGeom>
          <a:solidFill>
            <a:srgbClr val="389E0D"/>
          </a:solidFill>
          <a:ln/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783080" y="7333488"/>
            <a:ext cx="164592" cy="164592"/>
          </a:xfrm>
          <a:prstGeom prst="ellipse">
            <a:avLst/>
          </a:prstGeom>
          <a:noFill/>
          <a:ln w="19050">
            <a:solidFill>
              <a:srgbClr val="389E0D"/>
            </a:solidFill>
            <a:prstDash val="solid"/>
            <a:headEnd type="none"/>
            <a:tailEnd type="none"/>
          </a:ln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002536" y="7333488"/>
            <a:ext cx="164592" cy="164592"/>
          </a:xfrm>
          <a:prstGeom prst="ellipse">
            <a:avLst/>
          </a:prstGeom>
          <a:noFill/>
          <a:ln w="19050">
            <a:solidFill>
              <a:srgbClr val="389E0D"/>
            </a:solidFill>
            <a:prstDash val="solid"/>
            <a:headEnd type="none"/>
            <a:tailEnd type="none"/>
          </a:ln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231136" y="7333488"/>
            <a:ext cx="164592" cy="164592"/>
          </a:xfrm>
          <a:prstGeom prst="ellipse">
            <a:avLst/>
          </a:prstGeom>
          <a:noFill/>
          <a:ln w="19050">
            <a:solidFill>
              <a:srgbClr val="389E0D"/>
            </a:solidFill>
            <a:prstDash val="solid"/>
            <a:headEnd type="none"/>
            <a:tailEnd type="none"/>
          </a:ln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1325880" y="859536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400" dirty="0">
                <a:solidFill>
                  <a:srgbClr val="1B202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YOUR LOGO</a:t>
            </a:r>
            <a:endParaRPr lang="en-US" sz="14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0312" y="265176"/>
            <a:ext cx="320040" cy="62179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325880" y="6556248"/>
            <a:ext cx="2542032" cy="493776"/>
          </a:xfrm>
          <a:prstGeom prst="rect">
            <a:avLst/>
          </a:prstGeom>
          <a:solidFill>
            <a:srgbClr val="389E0D"/>
          </a:solidFill>
          <a:ln/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zh-CN" altLang="en-US" dirty="0"/>
          </a:p>
        </p:txBody>
      </p:sp>
      <p:sp>
        <p:nvSpPr>
          <p:cNvPr id="13" name="Text 9"/>
          <p:cNvSpPr txBox="1"/>
          <p:nvPr/>
        </p:nvSpPr>
        <p:spPr>
          <a:xfrm>
            <a:off x="1618488" y="6611112"/>
            <a:ext cx="13637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汇报人：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27867" r="27716"/>
          <a:stretch/>
        </p:blipFill>
        <p:spPr>
          <a:xfrm>
            <a:off x="0" y="0"/>
            <a:ext cx="3803904" cy="857707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193792" y="1901952"/>
            <a:ext cx="9043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2400" b="1" dirty="0">
                <a:solidFill>
                  <a:srgbClr val="1B2022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项目概览与团队介绍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4773168" y="1901952"/>
            <a:ext cx="310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2000" b="1" dirty="0">
                <a:solidFill>
                  <a:srgbClr val="389E0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5193792" y="2551176"/>
            <a:ext cx="9043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2400" b="1" dirty="0">
                <a:solidFill>
                  <a:srgbClr val="1B2022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学习痛点与选题价值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4773168" y="2551176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2000" b="1" dirty="0">
                <a:solidFill>
                  <a:srgbClr val="389E0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02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202936" y="3191256"/>
            <a:ext cx="9043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2400" b="1" dirty="0">
                <a:solidFill>
                  <a:srgbClr val="1B2022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用户调研与实际发现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4773168" y="3191256"/>
            <a:ext cx="402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2000" b="1" dirty="0">
                <a:solidFill>
                  <a:srgbClr val="389E0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03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5202936" y="3840480"/>
            <a:ext cx="9043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2400" b="1" dirty="0">
                <a:solidFill>
                  <a:srgbClr val="1B2022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目标用户与完整学习流程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4773168" y="3840480"/>
            <a:ext cx="420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2000" b="1" dirty="0">
                <a:solidFill>
                  <a:srgbClr val="389E0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04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5193792" y="4489704"/>
            <a:ext cx="9043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2400" b="1" dirty="0">
                <a:solidFill>
                  <a:srgbClr val="1B2022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领域资料、工具及Agent定制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4773168" y="4489704"/>
            <a:ext cx="402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2000" b="1" dirty="0">
                <a:solidFill>
                  <a:srgbClr val="389E0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05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5193792" y="5129784"/>
            <a:ext cx="9043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2400" b="1" dirty="0">
                <a:solidFill>
                  <a:srgbClr val="1B2022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二分查找样例演示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4773168" y="5129784"/>
            <a:ext cx="402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2000" b="1" dirty="0">
                <a:solidFill>
                  <a:srgbClr val="389E0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06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5193792" y="5779008"/>
            <a:ext cx="9043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2400" b="1" dirty="0">
                <a:solidFill>
                  <a:srgbClr val="1B2022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三个真实对比案例与限制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4773168" y="5779008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2000" b="1" dirty="0">
                <a:solidFill>
                  <a:srgbClr val="389E0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07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5193792" y="6428232"/>
            <a:ext cx="9043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2400" b="1" dirty="0">
                <a:solidFill>
                  <a:srgbClr val="1B2022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软件架构、原型与关键设计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4773168" y="642823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2000" b="1" dirty="0">
                <a:solidFill>
                  <a:srgbClr val="389E0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08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5193792" y="7077456"/>
            <a:ext cx="9043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2400" b="1" dirty="0">
                <a:solidFill>
                  <a:srgbClr val="1B2022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十人分工与协作方式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4773168" y="7077456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2000" b="1" dirty="0">
                <a:solidFill>
                  <a:srgbClr val="389E0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09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5193792" y="7717536"/>
            <a:ext cx="9043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2400" b="1" dirty="0">
                <a:solidFill>
                  <a:srgbClr val="1B2022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本次完成、正式范围与下一步</a:t>
            </a:r>
            <a:endParaRPr lang="en-US" sz="2400" dirty="0"/>
          </a:p>
        </p:txBody>
      </p:sp>
      <p:sp>
        <p:nvSpPr>
          <p:cNvPr id="22" name="Text 19"/>
          <p:cNvSpPr txBox="1"/>
          <p:nvPr/>
        </p:nvSpPr>
        <p:spPr>
          <a:xfrm>
            <a:off x="4773168" y="7717536"/>
            <a:ext cx="374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2000" b="1" dirty="0">
                <a:solidFill>
                  <a:srgbClr val="389E0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10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4773168" y="356616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4800" b="1" dirty="0">
                <a:solidFill>
                  <a:srgbClr val="1B2022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目录</a:t>
            </a:r>
            <a:endParaRPr lang="en-US" sz="4800" dirty="0"/>
          </a:p>
        </p:txBody>
      </p:sp>
      <p:sp>
        <p:nvSpPr>
          <p:cNvPr id="24" name="Text 21"/>
          <p:cNvSpPr txBox="1"/>
          <p:nvPr/>
        </p:nvSpPr>
        <p:spPr>
          <a:xfrm>
            <a:off x="4901184" y="113385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400" b="1" dirty="0">
                <a:solidFill>
                  <a:srgbClr val="808080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CONTENTS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33513" r="33574"/>
          <a:stretch/>
        </p:blipFill>
        <p:spPr>
          <a:xfrm>
            <a:off x="0" y="0"/>
            <a:ext cx="5020056" cy="8577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10912" y="2331720"/>
            <a:ext cx="10222992" cy="3895344"/>
          </a:xfrm>
          <a:prstGeom prst="rect">
            <a:avLst/>
          </a:prstGeom>
          <a:solidFill>
            <a:srgbClr val="6DC947"/>
          </a:solidFill>
          <a:ln/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4" name="Shape 1"/>
          <p:cNvSpPr/>
          <p:nvPr/>
        </p:nvSpPr>
        <p:spPr>
          <a:xfrm>
            <a:off x="3730752" y="3145536"/>
            <a:ext cx="2286000" cy="2286000"/>
          </a:xfrm>
          <a:prstGeom prst="rect">
            <a:avLst/>
          </a:prstGeom>
          <a:solidFill>
            <a:srgbClr val="389E0D"/>
          </a:solidFill>
          <a:ln/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3776472" y="3182112"/>
            <a:ext cx="2185416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0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01</a:t>
            </a:r>
            <a:endParaRPr lang="en-US" sz="8000" dirty="0"/>
          </a:p>
        </p:txBody>
      </p:sp>
      <p:sp>
        <p:nvSpPr>
          <p:cNvPr id="6" name="Text 3"/>
          <p:cNvSpPr txBox="1"/>
          <p:nvPr/>
        </p:nvSpPr>
        <p:spPr>
          <a:xfrm>
            <a:off x="6336792" y="3255264"/>
            <a:ext cx="834847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6000" b="1" dirty="0">
                <a:solidFill>
                  <a:srgbClr val="FFFFFF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项目概览与团队介绍</a:t>
            </a:r>
            <a:endParaRPr lang="en-US" sz="6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380744" y="466344"/>
            <a:ext cx="130484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3600" b="1" dirty="0">
                <a:solidFill>
                  <a:srgbClr val="1B2022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队名、项目名与成员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5243048" cy="8577072"/>
          </a:xfrm>
          <a:prstGeom prst="rect">
            <a:avLst/>
          </a:prstGeom>
          <a:gradFill flip="none" rotWithShape="1">
            <a:gsLst>
              <a:gs pos="0">
                <a:srgbClr val="389E0D">
                  <a:alpha val="10000"/>
                </a:srgbClr>
              </a:gs>
              <a:gs pos="52991">
                <a:srgbClr val="389E0D">
                  <a:alpha val="0"/>
                </a:srgbClr>
              </a:gs>
            </a:gsLst>
            <a:lin ang="5400000" scaled="0"/>
          </a:gradFill>
          <a:ln/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4519" y="415589"/>
            <a:ext cx="612648" cy="85953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11511B2-2708-246A-67E4-4FA8A79988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326" y="3127664"/>
            <a:ext cx="5943601" cy="5101936"/>
          </a:xfrm>
          <a:prstGeom prst="rect">
            <a:avLst/>
          </a:prstGeom>
        </p:spPr>
      </p:pic>
      <p:sp>
        <p:nvSpPr>
          <p:cNvPr id="13" name="Text 1">
            <a:extLst>
              <a:ext uri="{FF2B5EF4-FFF2-40B4-BE49-F238E27FC236}">
                <a16:creationId xmlns:a16="http://schemas.microsoft.com/office/drawing/2014/main" id="{5CD8DE6C-038E-1721-406D-0795E6A8512D}"/>
              </a:ext>
            </a:extLst>
          </p:cNvPr>
          <p:cNvSpPr txBox="1"/>
          <p:nvPr/>
        </p:nvSpPr>
        <p:spPr>
          <a:xfrm>
            <a:off x="614519" y="1275126"/>
            <a:ext cx="3969327" cy="718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zh-CN" altLang="en-US" sz="3200" dirty="0">
                <a:latin typeface="+mn-ea"/>
              </a:rPr>
              <a:t>队名：</a:t>
            </a:r>
            <a:r>
              <a:rPr lang="zh-CN" altLang="en-US" sz="3200" dirty="0"/>
              <a:t>看懂每一步</a:t>
            </a:r>
            <a:endParaRPr lang="en-US" sz="3200" dirty="0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634AD368-91A6-5521-74BC-2F18D9CB3A15}"/>
              </a:ext>
            </a:extLst>
          </p:cNvPr>
          <p:cNvSpPr txBox="1"/>
          <p:nvPr/>
        </p:nvSpPr>
        <p:spPr>
          <a:xfrm>
            <a:off x="0" y="1864043"/>
            <a:ext cx="10993581" cy="577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5000"/>
              </a:lnSpc>
            </a:pPr>
            <a:r>
              <a:rPr lang="zh-CN" altLang="en-US" sz="3200" b="1" dirty="0">
                <a:solidFill>
                  <a:srgbClr val="1B2022"/>
                </a:solidFill>
                <a:latin typeface="+mj-ea"/>
                <a:ea typeface="+mj-ea"/>
              </a:rPr>
              <a:t>项目名：看懂每一步：数据结构与算法可视化学习助手</a:t>
            </a:r>
            <a:endParaRPr lang="en-US" sz="3200" dirty="0">
              <a:latin typeface="+mj-ea"/>
              <a:ea typeface="+mj-ea"/>
            </a:endParaRPr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B822DC7F-F49F-284C-D675-4C61F2F12902}"/>
              </a:ext>
            </a:extLst>
          </p:cNvPr>
          <p:cNvSpPr txBox="1"/>
          <p:nvPr/>
        </p:nvSpPr>
        <p:spPr>
          <a:xfrm>
            <a:off x="614518" y="2441455"/>
            <a:ext cx="4248427" cy="718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zh-CN" altLang="en-US" sz="3200" dirty="0"/>
              <a:t>成员名单与本次主责：</a:t>
            </a:r>
            <a:endParaRPr lang="en-US" sz="3200" dirty="0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734D2228-73E4-9293-EE25-CA4B7A6735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3107" y="3127663"/>
            <a:ext cx="6679943" cy="51019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33513" r="33574"/>
          <a:stretch/>
        </p:blipFill>
        <p:spPr>
          <a:xfrm>
            <a:off x="0" y="0"/>
            <a:ext cx="5020056" cy="8577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10912" y="2331720"/>
            <a:ext cx="10222992" cy="3895344"/>
          </a:xfrm>
          <a:prstGeom prst="rect">
            <a:avLst/>
          </a:prstGeom>
          <a:solidFill>
            <a:srgbClr val="6DC947"/>
          </a:solidFill>
          <a:ln/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4" name="Shape 1"/>
          <p:cNvSpPr/>
          <p:nvPr/>
        </p:nvSpPr>
        <p:spPr>
          <a:xfrm>
            <a:off x="3730752" y="3145536"/>
            <a:ext cx="2286000" cy="2286000"/>
          </a:xfrm>
          <a:prstGeom prst="rect">
            <a:avLst/>
          </a:prstGeom>
          <a:solidFill>
            <a:srgbClr val="389E0D"/>
          </a:solidFill>
          <a:ln/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3776472" y="3182112"/>
            <a:ext cx="2185416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0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02</a:t>
            </a:r>
            <a:endParaRPr lang="en-US" sz="8000" dirty="0"/>
          </a:p>
        </p:txBody>
      </p:sp>
      <p:sp>
        <p:nvSpPr>
          <p:cNvPr id="6" name="Text 3"/>
          <p:cNvSpPr txBox="1"/>
          <p:nvPr/>
        </p:nvSpPr>
        <p:spPr>
          <a:xfrm>
            <a:off x="6336792" y="3255264"/>
            <a:ext cx="834847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6000" b="1" dirty="0">
                <a:solidFill>
                  <a:srgbClr val="FFFFFF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学习痛点与选题价值</a:t>
            </a:r>
            <a:endParaRPr lang="en-US" sz="6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-9144"/>
            <a:ext cx="15261336" cy="8586216"/>
          </a:xfrm>
          <a:prstGeom prst="rect">
            <a:avLst/>
          </a:prstGeom>
          <a:gradFill flip="none" rotWithShape="1">
            <a:gsLst>
              <a:gs pos="0">
                <a:srgbClr val="389E0D">
                  <a:alpha val="10000"/>
                </a:srgbClr>
              </a:gs>
              <a:gs pos="52991">
                <a:srgbClr val="389E0D">
                  <a:alpha val="0"/>
                </a:srgbClr>
              </a:gs>
            </a:gsLst>
            <a:lin ang="5400000" scaled="0"/>
          </a:gradFill>
          <a:ln/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  <p:txBody>
          <a:bodyPr wrap="square" lIns="3556" tIns="3556" rIns="3556" bIns="3556" rtlCol="0" anchor="ctr"/>
          <a:lstStyle/>
          <a:p>
            <a:pPr algn="ctr">
              <a:lnSpc>
                <a:spcPct val="125000"/>
              </a:lnSpc>
            </a:pPr>
            <a:r>
              <a:rPr lang="en-US" sz="1400" dirty="0">
                <a:solidFill>
                  <a:srgbClr val="1B2022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        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1426464"/>
            <a:ext cx="13716000" cy="5897880"/>
          </a:xfrm>
          <a:prstGeom prst="roundRect">
            <a:avLst>
              <a:gd name="adj" fmla="val 2946"/>
            </a:avLst>
          </a:prstGeom>
          <a:solidFill>
            <a:srgbClr val="FFFFFF">
              <a:alpha val="10196"/>
            </a:srgbClr>
          </a:solidFill>
          <a:ln w="19050">
            <a:solidFill>
              <a:srgbClr val="FFFFFF"/>
            </a:solidFill>
            <a:prstDash val="lgDash"/>
            <a:headEnd type="none"/>
            <a:tailEnd type="none"/>
          </a:ln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  <p:txBody>
          <a:bodyPr wrap="square" lIns="3048" tIns="3048" rIns="3048" bIns="3048" rtlCol="0" anchor="ctr"/>
          <a:lstStyle/>
          <a:p>
            <a:pPr algn="ctr">
              <a:lnSpc>
                <a:spcPct val="125000"/>
              </a:lnSpc>
            </a:pPr>
            <a:r>
              <a:rPr lang="en-US" sz="1400" dirty="0">
                <a:solidFill>
                  <a:srgbClr val="000000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                                                       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 rot="5400000">
            <a:off x="13002768" y="3584448"/>
            <a:ext cx="1929384" cy="1463040"/>
          </a:xfrm>
          <a:prstGeom prst="triangle">
            <a:avLst/>
          </a:prstGeom>
          <a:solidFill>
            <a:srgbClr val="389E0D">
              <a:alpha val="73333"/>
            </a:srgbClr>
          </a:solidFill>
          <a:ln/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560552" y="3877056"/>
            <a:ext cx="173736" cy="1737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  <a:headEnd type="none"/>
            <a:tailEnd type="none"/>
          </a:ln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73352" y="4279392"/>
            <a:ext cx="11585448" cy="109728"/>
          </a:xfrm>
          <a:prstGeom prst="rect">
            <a:avLst/>
          </a:prstGeom>
          <a:solidFill>
            <a:srgbClr val="389E0D">
              <a:alpha val="73333"/>
            </a:srgbClr>
          </a:solidFill>
          <a:ln/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8952" y="3621024"/>
            <a:ext cx="1024128" cy="1426464"/>
          </a:xfrm>
          <a:prstGeom prst="chevron">
            <a:avLst/>
          </a:prstGeom>
          <a:solidFill>
            <a:srgbClr val="389E0D">
              <a:alpha val="76078"/>
            </a:srgbClr>
          </a:solidFill>
          <a:ln/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98864" y="2377440"/>
            <a:ext cx="2386584" cy="0"/>
          </a:xfrm>
          <a:prstGeom prst="lineInv">
            <a:avLst/>
          </a:prstGeom>
          <a:solidFill>
            <a:srgbClr val="FFFFFF"/>
          </a:solidFill>
          <a:ln w="19050">
            <a:solidFill>
              <a:srgbClr val="389E0D"/>
            </a:solidFill>
            <a:prstDash val="solid"/>
            <a:headEnd type="none"/>
            <a:tailEnd type="none"/>
          </a:ln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1585448" y="2368296"/>
            <a:ext cx="1014984" cy="1956816"/>
          </a:xfrm>
          <a:prstGeom prst="line">
            <a:avLst/>
          </a:prstGeom>
          <a:solidFill>
            <a:srgbClr val="FFFFFF"/>
          </a:solidFill>
          <a:ln w="19050">
            <a:solidFill>
              <a:srgbClr val="389E0D"/>
            </a:solidFill>
            <a:prstDash val="solid"/>
            <a:headEnd type="none"/>
            <a:tailEnd type="none"/>
          </a:ln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1426464" y="521208"/>
            <a:ext cx="136885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3600" b="1" dirty="0">
                <a:solidFill>
                  <a:srgbClr val="1B2022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学习痛点与选题价值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813816" y="7507224"/>
            <a:ext cx="13697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</a:pP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258568" y="2551176"/>
            <a:ext cx="236829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14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学生死记“left=mid+1”更新规则，未能理解有序数组特性与区间排除的底层逻辑，知识停留在机械记忆层面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258568" y="4626864"/>
            <a:ext cx="2368296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14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题目孤立呈现，未绑定具体运行状态如“mid=2, A[mid]=5, target=7”，导致反馈泛化无效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258568" y="1819656"/>
            <a:ext cx="23682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en-US" sz="1600" b="1" dirty="0">
                <a:solidFill>
                  <a:srgbClr val="389E0D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概念抽象难具象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742432" y="2551176"/>
            <a:ext cx="2368296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14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教材直接呈现最终代码，缺失变量状态追踪、代码行映射与视觉反馈，学生无法观察算法执行完整轨迹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742432" y="1819656"/>
            <a:ext cx="23682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en-US" sz="1600" b="1" dirty="0">
                <a:solidFill>
                  <a:srgbClr val="389E0D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步骤断裂缺连贯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253728" y="2551176"/>
            <a:ext cx="2368296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14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学生答错边界更新方向时，教师缺乏对应知识卡引用与教材页码支撑，难以精准定位错误根源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244584" y="1819656"/>
            <a:ext cx="23682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en-US" sz="1600" b="1" dirty="0">
                <a:solidFill>
                  <a:srgbClr val="389E0D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错误归因无依据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742432" y="4626864"/>
            <a:ext cx="2368296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14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填补408统考核心算法“可解释性+可回看性+可验证性”三位一体空白，重构算法教学范式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751576" y="6665976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en-US" sz="1600" b="1" dirty="0">
                <a:solidFill>
                  <a:srgbClr val="6DC947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直击教学断点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2240280" y="6665976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en-US" sz="1600" b="1" dirty="0">
                <a:solidFill>
                  <a:srgbClr val="6DC947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练习脱离上下文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244584" y="4626864"/>
            <a:ext cx="2368296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14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首创融合C/C++权威实现、可视化动画、Agent辅导、知识卡与过程习题的闭环教学系统，严格对齐《王道数据结构2027》与408大纲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253728" y="6665976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en-US" sz="1600" b="1" dirty="0">
                <a:solidFill>
                  <a:srgbClr val="6DC947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构建集成工具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2399264" y="1645920"/>
            <a:ext cx="1673352" cy="548640"/>
          </a:xfrm>
          <a:prstGeom prst="snip2DiagRect">
            <a:avLst>
              <a:gd name="adj1" fmla="val 0"/>
              <a:gd name="adj2" fmla="val 16667"/>
            </a:avLst>
          </a:prstGeom>
          <a:solidFill>
            <a:srgbClr val="389E0D">
              <a:alpha val="14902"/>
            </a:srgbClr>
          </a:solidFill>
          <a:ln/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2399264" y="6455664"/>
            <a:ext cx="1673352" cy="548640"/>
          </a:xfrm>
          <a:prstGeom prst="snip2DiagRect">
            <a:avLst>
              <a:gd name="adj1" fmla="val 0"/>
              <a:gd name="adj2" fmla="val 16667"/>
            </a:avLst>
          </a:prstGeom>
          <a:solidFill>
            <a:srgbClr val="6DC947">
              <a:alpha val="14902"/>
            </a:srgbClr>
          </a:solidFill>
          <a:ln/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12481560" y="1664208"/>
            <a:ext cx="1517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en-US" sz="1400" b="1" dirty="0">
                <a:solidFill>
                  <a:srgbClr val="1B2022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概念理解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2472416" y="6464808"/>
            <a:ext cx="1517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en-US" sz="1400" b="1" dirty="0">
                <a:solidFill>
                  <a:srgbClr val="1B2022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过程可视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44568" y="4315968"/>
            <a:ext cx="1088136" cy="2121408"/>
          </a:xfrm>
          <a:prstGeom prst="lineInv">
            <a:avLst/>
          </a:prstGeom>
          <a:solidFill>
            <a:srgbClr val="FFFFFF"/>
          </a:solidFill>
          <a:ln w="19050">
            <a:solidFill>
              <a:srgbClr val="6DC947">
                <a:alpha val="60000"/>
              </a:srgbClr>
            </a:solidFill>
            <a:prstDash val="solid"/>
            <a:headEnd type="none"/>
            <a:tailEnd type="none"/>
          </a:ln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340864" y="6446520"/>
            <a:ext cx="2203704" cy="9144"/>
          </a:xfrm>
          <a:prstGeom prst="lineInv">
            <a:avLst/>
          </a:prstGeom>
          <a:solidFill>
            <a:srgbClr val="FFFFFF"/>
          </a:solidFill>
          <a:ln w="19050">
            <a:solidFill>
              <a:srgbClr val="6DC947">
                <a:alpha val="60000"/>
              </a:srgbClr>
            </a:solidFill>
            <a:prstDash val="solid"/>
            <a:headEnd type="none"/>
            <a:tailEnd type="none"/>
          </a:ln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724144" y="2377440"/>
            <a:ext cx="2386584" cy="0"/>
          </a:xfrm>
          <a:prstGeom prst="lineInv">
            <a:avLst/>
          </a:prstGeom>
          <a:solidFill>
            <a:srgbClr val="FFFFFF"/>
          </a:solidFill>
          <a:ln w="19050">
            <a:solidFill>
              <a:srgbClr val="389E0D"/>
            </a:solidFill>
            <a:prstDash val="solid"/>
            <a:headEnd type="none"/>
            <a:tailEnd type="none"/>
          </a:ln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110728" y="2368296"/>
            <a:ext cx="1014984" cy="1956816"/>
          </a:xfrm>
          <a:prstGeom prst="line">
            <a:avLst/>
          </a:prstGeom>
          <a:solidFill>
            <a:srgbClr val="FFFFFF"/>
          </a:solidFill>
          <a:ln w="19050">
            <a:solidFill>
              <a:srgbClr val="389E0D"/>
            </a:solidFill>
            <a:prstDash val="solid"/>
            <a:headEnd type="none"/>
            <a:tailEnd type="none"/>
          </a:ln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231136" y="2377440"/>
            <a:ext cx="2386584" cy="0"/>
          </a:xfrm>
          <a:prstGeom prst="lineInv">
            <a:avLst/>
          </a:prstGeom>
          <a:solidFill>
            <a:srgbClr val="FFFFFF"/>
          </a:solidFill>
          <a:ln w="19050">
            <a:solidFill>
              <a:srgbClr val="389E0D"/>
            </a:solidFill>
            <a:prstDash val="solid"/>
            <a:headEnd type="none"/>
            <a:tailEnd type="none"/>
          </a:ln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17720" y="2368296"/>
            <a:ext cx="1014984" cy="1956816"/>
          </a:xfrm>
          <a:prstGeom prst="line">
            <a:avLst/>
          </a:prstGeom>
          <a:solidFill>
            <a:srgbClr val="FFFFFF"/>
          </a:solidFill>
          <a:ln w="19050">
            <a:solidFill>
              <a:srgbClr val="389E0D"/>
            </a:solidFill>
            <a:prstDash val="solid"/>
            <a:headEnd type="none"/>
            <a:tailEnd type="none"/>
          </a:ln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037576" y="4315968"/>
            <a:ext cx="1088136" cy="2121408"/>
          </a:xfrm>
          <a:prstGeom prst="lineInv">
            <a:avLst/>
          </a:prstGeom>
          <a:solidFill>
            <a:srgbClr val="FFFFFF"/>
          </a:solidFill>
          <a:ln w="19050">
            <a:solidFill>
              <a:srgbClr val="6DC947">
                <a:alpha val="60000"/>
              </a:srgbClr>
            </a:solidFill>
            <a:prstDash val="solid"/>
            <a:headEnd type="none"/>
            <a:tailEnd type="none"/>
          </a:ln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833872" y="6446520"/>
            <a:ext cx="2203704" cy="9144"/>
          </a:xfrm>
          <a:prstGeom prst="lineInv">
            <a:avLst/>
          </a:prstGeom>
          <a:solidFill>
            <a:srgbClr val="FFFFFF"/>
          </a:solidFill>
          <a:ln w="19050">
            <a:solidFill>
              <a:srgbClr val="6DC947">
                <a:alpha val="60000"/>
              </a:srgbClr>
            </a:solidFill>
            <a:prstDash val="solid"/>
            <a:headEnd type="none"/>
            <a:tailEnd type="none"/>
          </a:ln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1512296" y="4315968"/>
            <a:ext cx="1088136" cy="2121408"/>
          </a:xfrm>
          <a:prstGeom prst="lineInv">
            <a:avLst/>
          </a:prstGeom>
          <a:solidFill>
            <a:srgbClr val="FFFFFF"/>
          </a:solidFill>
          <a:ln w="19050">
            <a:solidFill>
              <a:srgbClr val="6DC947">
                <a:alpha val="60000"/>
              </a:srgbClr>
            </a:solidFill>
            <a:prstDash val="solid"/>
            <a:headEnd type="none"/>
            <a:tailEnd type="none"/>
          </a:ln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308592" y="6446520"/>
            <a:ext cx="2203704" cy="9144"/>
          </a:xfrm>
          <a:prstGeom prst="lineInv">
            <a:avLst/>
          </a:prstGeom>
          <a:solidFill>
            <a:srgbClr val="FFFFFF"/>
          </a:solidFill>
          <a:ln w="19050">
            <a:solidFill>
              <a:srgbClr val="6DC947">
                <a:alpha val="60000"/>
              </a:srgbClr>
            </a:solidFill>
            <a:prstDash val="solid"/>
            <a:headEnd type="none"/>
            <a:tailEnd type="none"/>
          </a:ln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pic>
        <p:nvPicPr>
          <p:cNvPr id="3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3816" y="512064"/>
            <a:ext cx="612648" cy="8595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33513" r="33574"/>
          <a:stretch/>
        </p:blipFill>
        <p:spPr>
          <a:xfrm>
            <a:off x="0" y="0"/>
            <a:ext cx="5020056" cy="8577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10912" y="2331720"/>
            <a:ext cx="10222992" cy="3895344"/>
          </a:xfrm>
          <a:prstGeom prst="rect">
            <a:avLst/>
          </a:prstGeom>
          <a:solidFill>
            <a:srgbClr val="6DC947"/>
          </a:solidFill>
          <a:ln/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4" name="Shape 1"/>
          <p:cNvSpPr/>
          <p:nvPr/>
        </p:nvSpPr>
        <p:spPr>
          <a:xfrm>
            <a:off x="3730752" y="3145536"/>
            <a:ext cx="2286000" cy="2286000"/>
          </a:xfrm>
          <a:prstGeom prst="rect">
            <a:avLst/>
          </a:prstGeom>
          <a:solidFill>
            <a:srgbClr val="389E0D"/>
          </a:solidFill>
          <a:ln/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3776472" y="3182112"/>
            <a:ext cx="2185416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0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03</a:t>
            </a:r>
            <a:endParaRPr lang="en-US" sz="8000" dirty="0"/>
          </a:p>
        </p:txBody>
      </p:sp>
      <p:sp>
        <p:nvSpPr>
          <p:cNvPr id="6" name="Text 3"/>
          <p:cNvSpPr txBox="1"/>
          <p:nvPr/>
        </p:nvSpPr>
        <p:spPr>
          <a:xfrm>
            <a:off x="6336792" y="3255264"/>
            <a:ext cx="834847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6000" b="1" dirty="0">
                <a:solidFill>
                  <a:srgbClr val="FFFFFF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用户调研与实际发现</a:t>
            </a:r>
            <a:endParaRPr lang="en-US" sz="6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4782312"/>
            <a:ext cx="13761720" cy="349300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6112" y="4599432"/>
            <a:ext cx="13761720" cy="349300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1558016" y="1033272"/>
            <a:ext cx="3072384" cy="4590288"/>
          </a:xfrm>
          <a:prstGeom prst="roundRect">
            <a:avLst>
              <a:gd name="adj" fmla="val 3274"/>
            </a:avLst>
          </a:prstGeom>
          <a:gradFill flip="none" rotWithShape="1">
            <a:gsLst>
              <a:gs pos="81624">
                <a:srgbClr val="6DC947">
                  <a:alpha val="10000"/>
                </a:srgbClr>
              </a:gs>
              <a:gs pos="100000">
                <a:srgbClr val="6DC947">
                  <a:alpha val="0"/>
                </a:srgbClr>
              </a:gs>
            </a:gsLst>
            <a:lin ang="5400000" scaled="0"/>
          </a:gradFill>
          <a:ln/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5" name="Shape 1"/>
          <p:cNvSpPr/>
          <p:nvPr/>
        </p:nvSpPr>
        <p:spPr>
          <a:xfrm>
            <a:off x="8010144" y="1600200"/>
            <a:ext cx="3072384" cy="4590288"/>
          </a:xfrm>
          <a:prstGeom prst="roundRect">
            <a:avLst>
              <a:gd name="adj" fmla="val 3274"/>
            </a:avLst>
          </a:prstGeom>
          <a:gradFill flip="none" rotWithShape="1">
            <a:gsLst>
              <a:gs pos="85043">
                <a:srgbClr val="389E0D">
                  <a:alpha val="11000"/>
                </a:srgbClr>
              </a:gs>
              <a:gs pos="100000">
                <a:srgbClr val="389E0D">
                  <a:alpha val="0"/>
                </a:srgbClr>
              </a:gs>
            </a:gsLst>
            <a:lin ang="5400000" scaled="0"/>
          </a:gradFill>
          <a:ln/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6757416"/>
            <a:ext cx="15243048" cy="1792224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0" y="6967728"/>
            <a:ext cx="15243048" cy="1627632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 rot="100377">
            <a:off x="804672" y="7223760"/>
            <a:ext cx="283464" cy="283464"/>
          </a:xfrm>
          <a:prstGeom prst="ellipse">
            <a:avLst/>
          </a:prstGeom>
          <a:solidFill>
            <a:srgbClr val="389E0D"/>
          </a:solidFill>
          <a:ln w="66675">
            <a:gradFill flip="none" rotWithShape="1">
              <a:gsLst>
                <a:gs pos="0">
                  <a:srgbClr val="389E0D">
                    <a:alpha val="30000"/>
                  </a:srgbClr>
                </a:gs>
                <a:gs pos="100000">
                  <a:srgbClr val="389E0D">
                    <a:alpha val="30000"/>
                  </a:srgbClr>
                </a:gs>
              </a:gsLst>
              <a:lin ang="0" scaled="0"/>
            </a:gradFill>
            <a:prstDash val="solid"/>
            <a:headEnd type="none"/>
            <a:tailEnd type="none"/>
          </a:ln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9" name="Shape 3"/>
          <p:cNvSpPr/>
          <p:nvPr/>
        </p:nvSpPr>
        <p:spPr>
          <a:xfrm rot="100377">
            <a:off x="7918704" y="6583680"/>
            <a:ext cx="283464" cy="283464"/>
          </a:xfrm>
          <a:prstGeom prst="ellipse">
            <a:avLst/>
          </a:prstGeom>
          <a:solidFill>
            <a:srgbClr val="389E0D"/>
          </a:solidFill>
          <a:ln w="66675">
            <a:gradFill flip="none" rotWithShape="1">
              <a:gsLst>
                <a:gs pos="0">
                  <a:srgbClr val="389E0D">
                    <a:alpha val="30000"/>
                  </a:srgbClr>
                </a:gs>
                <a:gs pos="100000">
                  <a:srgbClr val="389E0D">
                    <a:alpha val="30000"/>
                  </a:srgbClr>
                </a:gs>
              </a:gsLst>
              <a:lin ang="0" scaled="0"/>
            </a:gradFill>
            <a:prstDash val="solid"/>
            <a:headEnd type="none"/>
            <a:tailEnd type="none"/>
          </a:ln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10" name="Shape 4"/>
          <p:cNvSpPr/>
          <p:nvPr/>
        </p:nvSpPr>
        <p:spPr>
          <a:xfrm rot="100377">
            <a:off x="4343400" y="7031736"/>
            <a:ext cx="283464" cy="283464"/>
          </a:xfrm>
          <a:prstGeom prst="ellipse">
            <a:avLst/>
          </a:prstGeom>
          <a:solidFill>
            <a:srgbClr val="6DC947"/>
          </a:solidFill>
          <a:ln w="66675">
            <a:gradFill flip="none" rotWithShape="1">
              <a:gsLst>
                <a:gs pos="0">
                  <a:srgbClr val="6DC947">
                    <a:alpha val="30000"/>
                  </a:srgbClr>
                </a:gs>
                <a:gs pos="100000">
                  <a:srgbClr val="6DC947">
                    <a:alpha val="30000"/>
                  </a:srgbClr>
                </a:gs>
              </a:gsLst>
              <a:lin ang="0" scaled="0"/>
            </a:gradFill>
            <a:prstDash val="solid"/>
            <a:headEnd type="none"/>
            <a:tailEnd type="none"/>
          </a:ln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11" name="Shape 5"/>
          <p:cNvSpPr/>
          <p:nvPr/>
        </p:nvSpPr>
        <p:spPr>
          <a:xfrm rot="100377">
            <a:off x="11494008" y="5971032"/>
            <a:ext cx="283464" cy="283464"/>
          </a:xfrm>
          <a:prstGeom prst="ellipse">
            <a:avLst/>
          </a:prstGeom>
          <a:solidFill>
            <a:srgbClr val="6DC947"/>
          </a:solidFill>
          <a:ln w="66675">
            <a:gradFill flip="none" rotWithShape="1">
              <a:gsLst>
                <a:gs pos="0">
                  <a:srgbClr val="6DC947">
                    <a:alpha val="30000"/>
                  </a:srgbClr>
                </a:gs>
                <a:gs pos="100000">
                  <a:srgbClr val="6DC947">
                    <a:alpha val="30000"/>
                  </a:srgbClr>
                </a:gs>
              </a:gsLst>
              <a:lin ang="0" scaled="0"/>
            </a:gradFill>
            <a:prstDash val="solid"/>
            <a:headEnd type="none"/>
            <a:tailEnd type="none"/>
          </a:ln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12" name="Shape 6"/>
          <p:cNvSpPr/>
          <p:nvPr/>
        </p:nvSpPr>
        <p:spPr>
          <a:xfrm>
            <a:off x="914400" y="2368296"/>
            <a:ext cx="3072384" cy="4654296"/>
          </a:xfrm>
          <a:prstGeom prst="roundRect">
            <a:avLst>
              <a:gd name="adj" fmla="val 3274"/>
            </a:avLst>
          </a:prstGeom>
          <a:gradFill flip="none" rotWithShape="1">
            <a:gsLst>
              <a:gs pos="85043">
                <a:srgbClr val="389E0D">
                  <a:alpha val="11000"/>
                </a:srgbClr>
              </a:gs>
              <a:gs pos="100000">
                <a:srgbClr val="389E0D">
                  <a:alpha val="0"/>
                </a:srgbClr>
              </a:gs>
            </a:gsLst>
            <a:lin ang="5400000" scaled="0"/>
          </a:gradFill>
          <a:ln/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13" name="Shape 7"/>
          <p:cNvSpPr/>
          <p:nvPr/>
        </p:nvSpPr>
        <p:spPr>
          <a:xfrm>
            <a:off x="4462272" y="2048256"/>
            <a:ext cx="3072384" cy="4572000"/>
          </a:xfrm>
          <a:prstGeom prst="roundRect">
            <a:avLst>
              <a:gd name="adj" fmla="val 3274"/>
            </a:avLst>
          </a:prstGeom>
          <a:gradFill flip="none" rotWithShape="1">
            <a:gsLst>
              <a:gs pos="81624">
                <a:srgbClr val="6DC947">
                  <a:alpha val="11000"/>
                </a:srgbClr>
              </a:gs>
              <a:gs pos="100000">
                <a:srgbClr val="6DC947">
                  <a:alpha val="0"/>
                </a:srgbClr>
              </a:gs>
            </a:gsLst>
            <a:lin ang="5400000" scaled="0"/>
          </a:gradFill>
          <a:ln/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14" name="Shape 8"/>
          <p:cNvSpPr/>
          <p:nvPr/>
        </p:nvSpPr>
        <p:spPr>
          <a:xfrm>
            <a:off x="914400" y="2368296"/>
            <a:ext cx="3072384" cy="621792"/>
          </a:xfrm>
          <a:prstGeom prst="roundRect">
            <a:avLst>
              <a:gd name="adj" fmla="val -1471"/>
            </a:avLst>
          </a:prstGeom>
          <a:solidFill>
            <a:srgbClr val="389E0D">
              <a:alpha val="31373"/>
            </a:srgbClr>
          </a:solidFill>
          <a:ln/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15" name="Shape 9"/>
          <p:cNvSpPr/>
          <p:nvPr/>
        </p:nvSpPr>
        <p:spPr>
          <a:xfrm>
            <a:off x="4462272" y="2048256"/>
            <a:ext cx="3072384" cy="621792"/>
          </a:xfrm>
          <a:prstGeom prst="roundRect">
            <a:avLst>
              <a:gd name="adj" fmla="val -1471"/>
            </a:avLst>
          </a:prstGeom>
          <a:solidFill>
            <a:srgbClr val="6DC947">
              <a:alpha val="14902"/>
            </a:srgbClr>
          </a:solidFill>
          <a:ln/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8010144" y="1600200"/>
            <a:ext cx="3072384" cy="621792"/>
          </a:xfrm>
          <a:prstGeom prst="roundRect">
            <a:avLst>
              <a:gd name="adj" fmla="val -1471"/>
            </a:avLst>
          </a:prstGeom>
          <a:solidFill>
            <a:srgbClr val="389E0D">
              <a:alpha val="31373"/>
            </a:srgbClr>
          </a:solidFill>
          <a:ln/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11567160" y="1033272"/>
            <a:ext cx="3072384" cy="621792"/>
          </a:xfrm>
          <a:prstGeom prst="roundRect">
            <a:avLst>
              <a:gd name="adj" fmla="val -1471"/>
            </a:avLst>
          </a:prstGeom>
          <a:solidFill>
            <a:srgbClr val="6DC947">
              <a:alpha val="14902"/>
            </a:srgbClr>
          </a:solidFill>
          <a:ln/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2688" y="2368296"/>
            <a:ext cx="2221992" cy="621792"/>
          </a:xfrm>
          <a:prstGeom prst="rect">
            <a:avLst/>
          </a:prstGeom>
        </p:spPr>
      </p:pic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71416" y="2039112"/>
            <a:ext cx="2221992" cy="621792"/>
          </a:xfrm>
          <a:prstGeom prst="rect">
            <a:avLst/>
          </a:prstGeom>
        </p:spPr>
      </p:pic>
      <p:pic>
        <p:nvPicPr>
          <p:cNvPr id="2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10144" y="1600200"/>
            <a:ext cx="2221992" cy="621792"/>
          </a:xfrm>
          <a:prstGeom prst="rect">
            <a:avLst/>
          </a:prstGeom>
        </p:spPr>
      </p:pic>
      <p:pic>
        <p:nvPicPr>
          <p:cNvPr id="2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576304" y="1033272"/>
            <a:ext cx="2221992" cy="621792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1325880" y="3154680"/>
            <a:ext cx="24505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14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访谈对象：5名计算机专业本科生</a:t>
            </a:r>
            <a:endParaRPr lang="en-US" sz="1400" dirty="0"/>
          </a:p>
        </p:txBody>
      </p:sp>
      <p:sp>
        <p:nvSpPr>
          <p:cNvPr id="23" name="Text 13"/>
          <p:cNvSpPr txBox="1"/>
          <p:nvPr/>
        </p:nvSpPr>
        <p:spPr>
          <a:xfrm>
            <a:off x="4928616" y="2898648"/>
            <a:ext cx="23865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14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研究方法：半结构化深度访谈+同步过程任务</a:t>
            </a:r>
            <a:endParaRPr lang="en-US" sz="1400" dirty="0"/>
          </a:p>
        </p:txBody>
      </p:sp>
      <p:sp>
        <p:nvSpPr>
          <p:cNvPr id="24" name="Text 14"/>
          <p:cNvSpPr txBox="1"/>
          <p:nvPr/>
        </p:nvSpPr>
        <p:spPr>
          <a:xfrm>
            <a:off x="8458200" y="2350008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1400" dirty="0" err="1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核心发现</a:t>
            </a:r>
            <a:r>
              <a:rPr lang="en-US" sz="14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：</a:t>
            </a:r>
            <a:r>
              <a:rPr lang="zh-CN" altLang="en-US" sz="14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多数</a:t>
            </a:r>
            <a:r>
              <a:rPr lang="en-US" sz="14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受访者在第2步出现推导卡顿</a:t>
            </a:r>
            <a:endParaRPr lang="en-US" sz="1400" dirty="0"/>
          </a:p>
        </p:txBody>
      </p:sp>
      <p:sp>
        <p:nvSpPr>
          <p:cNvPr id="25" name="Text 15"/>
          <p:cNvSpPr txBox="1"/>
          <p:nvPr/>
        </p:nvSpPr>
        <p:spPr>
          <a:xfrm>
            <a:off x="12106656" y="1783080"/>
            <a:ext cx="23957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14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设计结论：单步状态锚定作为系统第一原则</a:t>
            </a:r>
            <a:endParaRPr lang="en-US" sz="1400" dirty="0"/>
          </a:p>
        </p:txBody>
      </p:sp>
      <p:sp>
        <p:nvSpPr>
          <p:cNvPr id="26" name="Text 16"/>
          <p:cNvSpPr txBox="1"/>
          <p:nvPr/>
        </p:nvSpPr>
        <p:spPr>
          <a:xfrm>
            <a:off x="4937760" y="4151376"/>
            <a:ext cx="24231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14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要求受访者手动推演并解释每步决策</a:t>
            </a:r>
            <a:endParaRPr lang="en-US" sz="1400" dirty="0"/>
          </a:p>
        </p:txBody>
      </p:sp>
      <p:sp>
        <p:nvSpPr>
          <p:cNvPr id="27" name="Text 17"/>
          <p:cNvSpPr txBox="1"/>
          <p:nvPr/>
        </p:nvSpPr>
        <p:spPr>
          <a:xfrm>
            <a:off x="8467344" y="3648456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14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4人表示需要实时可视化L/M/R指针移动</a:t>
            </a:r>
            <a:endParaRPr lang="en-US" sz="1400" dirty="0"/>
          </a:p>
        </p:txBody>
      </p:sp>
      <p:sp>
        <p:nvSpPr>
          <p:cNvPr id="28" name="Text 18"/>
          <p:cNvSpPr txBox="1"/>
          <p:nvPr/>
        </p:nvSpPr>
        <p:spPr>
          <a:xfrm>
            <a:off x="12115800" y="3063240"/>
            <a:ext cx="23865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14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将抽象算法转化为可感知交互体验</a:t>
            </a:r>
            <a:endParaRPr lang="en-US" sz="1400" dirty="0"/>
          </a:p>
        </p:txBody>
      </p:sp>
      <p:sp>
        <p:nvSpPr>
          <p:cNvPr id="29" name="Text 19"/>
          <p:cNvSpPr txBox="1"/>
          <p:nvPr/>
        </p:nvSpPr>
        <p:spPr>
          <a:xfrm>
            <a:off x="1069848" y="2414016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600" b="1" dirty="0">
                <a:solidFill>
                  <a:srgbClr val="FFFFFF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对象</a:t>
            </a:r>
            <a:endParaRPr lang="en-US" sz="1600" dirty="0"/>
          </a:p>
        </p:txBody>
      </p:sp>
      <p:sp>
        <p:nvSpPr>
          <p:cNvPr id="30" name="Text 20"/>
          <p:cNvSpPr txBox="1"/>
          <p:nvPr/>
        </p:nvSpPr>
        <p:spPr>
          <a:xfrm>
            <a:off x="4608576" y="2084832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600" b="1" dirty="0">
                <a:solidFill>
                  <a:srgbClr val="FFFFFF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方法</a:t>
            </a:r>
            <a:endParaRPr lang="en-US" sz="1600" dirty="0"/>
          </a:p>
        </p:txBody>
      </p:sp>
      <p:sp>
        <p:nvSpPr>
          <p:cNvPr id="31" name="Text 21"/>
          <p:cNvSpPr txBox="1"/>
          <p:nvPr/>
        </p:nvSpPr>
        <p:spPr>
          <a:xfrm>
            <a:off x="8174736" y="1636776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600" b="1" dirty="0">
                <a:solidFill>
                  <a:srgbClr val="FFFFFF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发现</a:t>
            </a:r>
            <a:endParaRPr lang="en-US" sz="1600" dirty="0"/>
          </a:p>
        </p:txBody>
      </p:sp>
      <p:sp>
        <p:nvSpPr>
          <p:cNvPr id="32" name="Text 22"/>
          <p:cNvSpPr txBox="1"/>
          <p:nvPr/>
        </p:nvSpPr>
        <p:spPr>
          <a:xfrm>
            <a:off x="11704320" y="1060704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600" b="1" dirty="0">
                <a:solidFill>
                  <a:srgbClr val="FFFFFF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结论</a:t>
            </a:r>
            <a:endParaRPr lang="en-US" sz="1600" dirty="0"/>
          </a:p>
        </p:txBody>
      </p:sp>
      <p:sp>
        <p:nvSpPr>
          <p:cNvPr id="33" name="Text 23"/>
          <p:cNvSpPr txBox="1"/>
          <p:nvPr/>
        </p:nvSpPr>
        <p:spPr>
          <a:xfrm>
            <a:off x="1362456" y="484632"/>
            <a:ext cx="130210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3600" b="1" dirty="0">
                <a:solidFill>
                  <a:srgbClr val="1B2022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访谈对象、方法与实际发现</a:t>
            </a:r>
            <a:endParaRPr lang="en-US" sz="3600" dirty="0"/>
          </a:p>
        </p:txBody>
      </p:sp>
      <p:sp>
        <p:nvSpPr>
          <p:cNvPr id="34" name="Text 24"/>
          <p:cNvSpPr/>
          <p:nvPr/>
        </p:nvSpPr>
        <p:spPr>
          <a:xfrm>
            <a:off x="868680" y="2377440"/>
            <a:ext cx="118872" cy="4818888"/>
          </a:xfrm>
          <a:prstGeom prst="rect">
            <a:avLst/>
          </a:prstGeom>
          <a:gradFill flip="none" rotWithShape="1">
            <a:gsLst>
              <a:gs pos="44872">
                <a:srgbClr val="389E0D">
                  <a:alpha val="100000"/>
                </a:srgbClr>
              </a:gs>
              <a:gs pos="100000">
                <a:srgbClr val="389E0D">
                  <a:alpha val="0"/>
                </a:srgbClr>
              </a:gs>
            </a:gsLst>
            <a:lin ang="5400000" scaled="0"/>
          </a:gradFill>
          <a:ln/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en-US" sz="1400" dirty="0">
                <a:solidFill>
                  <a:srgbClr val="1B2022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    </a:t>
            </a:r>
            <a:endParaRPr lang="en-US" sz="1400" dirty="0"/>
          </a:p>
        </p:txBody>
      </p:sp>
      <p:sp>
        <p:nvSpPr>
          <p:cNvPr id="35" name="Text 25"/>
          <p:cNvSpPr/>
          <p:nvPr/>
        </p:nvSpPr>
        <p:spPr>
          <a:xfrm>
            <a:off x="7946136" y="1600200"/>
            <a:ext cx="118872" cy="4818888"/>
          </a:xfrm>
          <a:prstGeom prst="rect">
            <a:avLst/>
          </a:prstGeom>
          <a:gradFill flip="none" rotWithShape="1">
            <a:gsLst>
              <a:gs pos="44872">
                <a:srgbClr val="389E0D">
                  <a:alpha val="100000"/>
                </a:srgbClr>
              </a:gs>
              <a:gs pos="100000">
                <a:srgbClr val="389E0D">
                  <a:alpha val="0"/>
                </a:srgbClr>
              </a:gs>
            </a:gsLst>
            <a:lin ang="5400000" scaled="0"/>
          </a:gradFill>
          <a:ln/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en-US" sz="1400" dirty="0">
                <a:solidFill>
                  <a:srgbClr val="1B2022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    </a:t>
            </a:r>
            <a:endParaRPr lang="en-US" sz="1400" dirty="0"/>
          </a:p>
        </p:txBody>
      </p:sp>
      <p:sp>
        <p:nvSpPr>
          <p:cNvPr id="36" name="Text 26"/>
          <p:cNvSpPr/>
          <p:nvPr/>
        </p:nvSpPr>
        <p:spPr>
          <a:xfrm>
            <a:off x="4416552" y="2039112"/>
            <a:ext cx="82296" cy="4818888"/>
          </a:xfrm>
          <a:prstGeom prst="rect">
            <a:avLst/>
          </a:prstGeom>
          <a:gradFill flip="none" rotWithShape="1">
            <a:gsLst>
              <a:gs pos="44872">
                <a:srgbClr val="6DC947">
                  <a:alpha val="100000"/>
                </a:srgbClr>
              </a:gs>
              <a:gs pos="100000">
                <a:srgbClr val="6DC947">
                  <a:alpha val="0"/>
                </a:srgbClr>
              </a:gs>
            </a:gsLst>
            <a:lin ang="5400000" scaled="0"/>
          </a:gradFill>
          <a:ln/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en-US" sz="1400" dirty="0">
                <a:solidFill>
                  <a:srgbClr val="1B2022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       </a:t>
            </a:r>
            <a:endParaRPr lang="en-US" sz="1400" dirty="0"/>
          </a:p>
        </p:txBody>
      </p:sp>
      <p:sp>
        <p:nvSpPr>
          <p:cNvPr id="37" name="Text 27"/>
          <p:cNvSpPr/>
          <p:nvPr/>
        </p:nvSpPr>
        <p:spPr>
          <a:xfrm>
            <a:off x="11512296" y="1033272"/>
            <a:ext cx="118872" cy="4818888"/>
          </a:xfrm>
          <a:prstGeom prst="rect">
            <a:avLst/>
          </a:prstGeom>
          <a:gradFill flip="none" rotWithShape="1">
            <a:gsLst>
              <a:gs pos="44872">
                <a:srgbClr val="6DC947">
                  <a:alpha val="100000"/>
                </a:srgbClr>
              </a:gs>
              <a:gs pos="100000">
                <a:srgbClr val="6DC947">
                  <a:alpha val="0"/>
                </a:srgbClr>
              </a:gs>
            </a:gsLst>
            <a:lin ang="5400000" scaled="0"/>
          </a:gradFill>
          <a:ln/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en-US" sz="1400" dirty="0">
                <a:solidFill>
                  <a:srgbClr val="1B2022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    </a:t>
            </a:r>
            <a:endParaRPr lang="en-US" sz="1400" dirty="0"/>
          </a:p>
        </p:txBody>
      </p:sp>
      <p:sp>
        <p:nvSpPr>
          <p:cNvPr id="38" name="Shape 28"/>
          <p:cNvSpPr/>
          <p:nvPr/>
        </p:nvSpPr>
        <p:spPr>
          <a:xfrm>
            <a:off x="923544" y="2953512"/>
            <a:ext cx="3072384" cy="36576"/>
          </a:xfrm>
          <a:prstGeom prst="rect">
            <a:avLst/>
          </a:prstGeom>
          <a:solidFill>
            <a:srgbClr val="389E0D">
              <a:alpha val="60000"/>
            </a:srgbClr>
          </a:solidFill>
          <a:ln/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39" name="Text 29"/>
          <p:cNvSpPr/>
          <p:nvPr/>
        </p:nvSpPr>
        <p:spPr>
          <a:xfrm>
            <a:off x="4462272" y="2642616"/>
            <a:ext cx="3072384" cy="36576"/>
          </a:xfrm>
          <a:prstGeom prst="rect">
            <a:avLst/>
          </a:prstGeom>
          <a:solidFill>
            <a:srgbClr val="6DC947">
              <a:alpha val="60000"/>
            </a:srgbClr>
          </a:solidFill>
          <a:ln/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en-US" sz="1400" dirty="0">
                <a:solidFill>
                  <a:srgbClr val="000000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          </a:t>
            </a:r>
            <a:endParaRPr lang="en-US" sz="1400" dirty="0"/>
          </a:p>
        </p:txBody>
      </p:sp>
      <p:sp>
        <p:nvSpPr>
          <p:cNvPr id="40" name="Text 30"/>
          <p:cNvSpPr/>
          <p:nvPr/>
        </p:nvSpPr>
        <p:spPr>
          <a:xfrm>
            <a:off x="8010144" y="2185416"/>
            <a:ext cx="3072384" cy="36576"/>
          </a:xfrm>
          <a:prstGeom prst="rect">
            <a:avLst/>
          </a:prstGeom>
          <a:solidFill>
            <a:srgbClr val="389E0D">
              <a:alpha val="60000"/>
            </a:srgbClr>
          </a:solidFill>
          <a:ln/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en-US" sz="1400" dirty="0">
                <a:solidFill>
                  <a:srgbClr val="000000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  </a:t>
            </a:r>
            <a:endParaRPr lang="en-US" sz="1400" dirty="0"/>
          </a:p>
        </p:txBody>
      </p:sp>
      <p:sp>
        <p:nvSpPr>
          <p:cNvPr id="41" name="Text 31"/>
          <p:cNvSpPr/>
          <p:nvPr/>
        </p:nvSpPr>
        <p:spPr>
          <a:xfrm>
            <a:off x="11567160" y="1609344"/>
            <a:ext cx="3072384" cy="36576"/>
          </a:xfrm>
          <a:prstGeom prst="rect">
            <a:avLst/>
          </a:prstGeom>
          <a:solidFill>
            <a:srgbClr val="6DC947">
              <a:alpha val="60000"/>
            </a:srgbClr>
          </a:solidFill>
          <a:ln/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en-US" sz="1400" dirty="0">
                <a:solidFill>
                  <a:srgbClr val="000000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      </a:t>
            </a:r>
            <a:endParaRPr lang="en-US" sz="1400" dirty="0"/>
          </a:p>
        </p:txBody>
      </p:sp>
      <p:sp>
        <p:nvSpPr>
          <p:cNvPr id="42" name="Text 32"/>
          <p:cNvSpPr txBox="1"/>
          <p:nvPr/>
        </p:nvSpPr>
        <p:spPr>
          <a:xfrm>
            <a:off x="1362456" y="4462272"/>
            <a:ext cx="24505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14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编号P01–P05</a:t>
            </a:r>
            <a:endParaRPr lang="en-US" sz="1400" dirty="0"/>
          </a:p>
        </p:txBody>
      </p:sp>
      <p:sp>
        <p:nvSpPr>
          <p:cNvPr id="43" name="Text 33"/>
          <p:cNvSpPr txBox="1"/>
          <p:nvPr/>
        </p:nvSpPr>
        <p:spPr>
          <a:xfrm>
            <a:off x="1344168" y="5724144"/>
            <a:ext cx="24597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14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二分查找单元测验正确率均低于65%</a:t>
            </a:r>
            <a:endParaRPr lang="en-US" sz="1400" dirty="0"/>
          </a:p>
        </p:txBody>
      </p:sp>
      <p:sp>
        <p:nvSpPr>
          <p:cNvPr id="44" name="Text 34"/>
          <p:cNvSpPr txBox="1"/>
          <p:nvPr/>
        </p:nvSpPr>
        <p:spPr>
          <a:xfrm>
            <a:off x="4928616" y="5422392"/>
            <a:ext cx="245059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14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追踪思维过程，定位认知断裂点</a:t>
            </a:r>
            <a:endParaRPr lang="en-US" sz="1400" dirty="0"/>
          </a:p>
        </p:txBody>
      </p:sp>
      <p:sp>
        <p:nvSpPr>
          <p:cNvPr id="45" name="Text 35"/>
          <p:cNvSpPr txBox="1"/>
          <p:nvPr/>
        </p:nvSpPr>
        <p:spPr>
          <a:xfrm>
            <a:off x="8458200" y="4919472"/>
            <a:ext cx="243230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14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3人迫切追问解释来源的权威验证</a:t>
            </a:r>
            <a:endParaRPr lang="en-US" sz="1400" dirty="0"/>
          </a:p>
        </p:txBody>
      </p:sp>
      <p:sp>
        <p:nvSpPr>
          <p:cNvPr id="46" name="Text 36"/>
          <p:cNvSpPr txBox="1"/>
          <p:nvPr/>
        </p:nvSpPr>
        <p:spPr>
          <a:xfrm>
            <a:off x="12115800" y="4306824"/>
            <a:ext cx="234086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14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解决“错而不知错在哪”的学习困境</a:t>
            </a:r>
            <a:endParaRPr lang="en-US" sz="1400" dirty="0"/>
          </a:p>
        </p:txBody>
      </p:sp>
      <p:sp>
        <p:nvSpPr>
          <p:cNvPr id="47" name="Shape 37"/>
          <p:cNvSpPr/>
          <p:nvPr/>
        </p:nvSpPr>
        <p:spPr>
          <a:xfrm>
            <a:off x="1042416" y="3227832"/>
            <a:ext cx="201168" cy="201168"/>
          </a:xfrm>
          <a:prstGeom prst="roundRect">
            <a:avLst>
              <a:gd name="adj" fmla="val 45455"/>
            </a:avLst>
          </a:prstGeom>
          <a:solidFill>
            <a:srgbClr val="389E0D"/>
          </a:solidFill>
          <a:ln w="19050">
            <a:solidFill>
              <a:srgbClr val="389E0D"/>
            </a:solidFill>
            <a:prstDash val="solid"/>
            <a:headEnd type="none"/>
            <a:tailEnd type="none"/>
          </a:ln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48" name="Shape 38"/>
          <p:cNvSpPr/>
          <p:nvPr/>
        </p:nvSpPr>
        <p:spPr>
          <a:xfrm>
            <a:off x="8156448" y="2432304"/>
            <a:ext cx="201168" cy="201168"/>
          </a:xfrm>
          <a:prstGeom prst="roundRect">
            <a:avLst>
              <a:gd name="adj" fmla="val 45455"/>
            </a:avLst>
          </a:prstGeom>
          <a:solidFill>
            <a:srgbClr val="389E0D"/>
          </a:solidFill>
          <a:ln w="19050">
            <a:solidFill>
              <a:srgbClr val="389E0D"/>
            </a:solidFill>
            <a:prstDash val="solid"/>
            <a:headEnd type="none"/>
            <a:tailEnd type="none"/>
          </a:ln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49" name="Shape 39"/>
          <p:cNvSpPr/>
          <p:nvPr/>
        </p:nvSpPr>
        <p:spPr>
          <a:xfrm>
            <a:off x="4599432" y="2944368"/>
            <a:ext cx="201168" cy="201168"/>
          </a:xfrm>
          <a:prstGeom prst="roundRect">
            <a:avLst>
              <a:gd name="adj" fmla="val 45455"/>
            </a:avLst>
          </a:prstGeom>
          <a:solidFill>
            <a:srgbClr val="6DC947"/>
          </a:solidFill>
          <a:ln w="19050">
            <a:solidFill>
              <a:srgbClr val="6DC947"/>
            </a:solidFill>
            <a:prstDash val="solid"/>
            <a:headEnd type="none"/>
            <a:tailEnd type="none"/>
          </a:ln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50" name="Shape 40"/>
          <p:cNvSpPr/>
          <p:nvPr/>
        </p:nvSpPr>
        <p:spPr>
          <a:xfrm>
            <a:off x="11786616" y="1837944"/>
            <a:ext cx="201168" cy="201168"/>
          </a:xfrm>
          <a:prstGeom prst="roundRect">
            <a:avLst>
              <a:gd name="adj" fmla="val 45455"/>
            </a:avLst>
          </a:prstGeom>
          <a:solidFill>
            <a:srgbClr val="6DC947"/>
          </a:solidFill>
          <a:ln w="19050">
            <a:solidFill>
              <a:srgbClr val="6DC947"/>
            </a:solidFill>
            <a:prstDash val="solid"/>
            <a:headEnd type="none"/>
            <a:tailEnd type="none"/>
          </a:ln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51" name="Shape 41"/>
          <p:cNvSpPr/>
          <p:nvPr/>
        </p:nvSpPr>
        <p:spPr>
          <a:xfrm>
            <a:off x="1042416" y="4498848"/>
            <a:ext cx="201168" cy="201168"/>
          </a:xfrm>
          <a:prstGeom prst="roundRect">
            <a:avLst>
              <a:gd name="adj" fmla="val 45455"/>
            </a:avLst>
          </a:prstGeom>
          <a:solidFill>
            <a:srgbClr val="389E0D"/>
          </a:solidFill>
          <a:ln w="19050">
            <a:solidFill>
              <a:srgbClr val="389E0D"/>
            </a:solidFill>
            <a:prstDash val="solid"/>
            <a:headEnd type="none"/>
            <a:tailEnd type="none"/>
          </a:ln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52" name="Shape 42"/>
          <p:cNvSpPr/>
          <p:nvPr/>
        </p:nvSpPr>
        <p:spPr>
          <a:xfrm>
            <a:off x="8156448" y="3703320"/>
            <a:ext cx="201168" cy="201168"/>
          </a:xfrm>
          <a:prstGeom prst="roundRect">
            <a:avLst>
              <a:gd name="adj" fmla="val 45455"/>
            </a:avLst>
          </a:prstGeom>
          <a:solidFill>
            <a:srgbClr val="389E0D"/>
          </a:solidFill>
          <a:ln w="19050">
            <a:solidFill>
              <a:srgbClr val="389E0D"/>
            </a:solidFill>
            <a:prstDash val="solid"/>
            <a:headEnd type="none"/>
            <a:tailEnd type="none"/>
          </a:ln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53" name="Shape 43"/>
          <p:cNvSpPr/>
          <p:nvPr/>
        </p:nvSpPr>
        <p:spPr>
          <a:xfrm>
            <a:off x="4599432" y="4215384"/>
            <a:ext cx="201168" cy="201168"/>
          </a:xfrm>
          <a:prstGeom prst="roundRect">
            <a:avLst>
              <a:gd name="adj" fmla="val 45455"/>
            </a:avLst>
          </a:prstGeom>
          <a:solidFill>
            <a:srgbClr val="6DC947"/>
          </a:solidFill>
          <a:ln w="19050">
            <a:solidFill>
              <a:srgbClr val="6DC947"/>
            </a:solidFill>
            <a:prstDash val="solid"/>
            <a:headEnd type="none"/>
            <a:tailEnd type="none"/>
          </a:ln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54" name="Shape 44"/>
          <p:cNvSpPr/>
          <p:nvPr/>
        </p:nvSpPr>
        <p:spPr>
          <a:xfrm>
            <a:off x="11786616" y="3108960"/>
            <a:ext cx="201168" cy="201168"/>
          </a:xfrm>
          <a:prstGeom prst="roundRect">
            <a:avLst>
              <a:gd name="adj" fmla="val 45455"/>
            </a:avLst>
          </a:prstGeom>
          <a:solidFill>
            <a:srgbClr val="6DC947"/>
          </a:solidFill>
          <a:ln w="19050">
            <a:solidFill>
              <a:srgbClr val="6DC947"/>
            </a:solidFill>
            <a:prstDash val="solid"/>
            <a:headEnd type="none"/>
            <a:tailEnd type="none"/>
          </a:ln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55" name="Shape 45"/>
          <p:cNvSpPr/>
          <p:nvPr/>
        </p:nvSpPr>
        <p:spPr>
          <a:xfrm>
            <a:off x="1042416" y="5760720"/>
            <a:ext cx="201168" cy="201168"/>
          </a:xfrm>
          <a:prstGeom prst="roundRect">
            <a:avLst>
              <a:gd name="adj" fmla="val 45455"/>
            </a:avLst>
          </a:prstGeom>
          <a:solidFill>
            <a:srgbClr val="389E0D"/>
          </a:solidFill>
          <a:ln w="19050">
            <a:solidFill>
              <a:srgbClr val="389E0D"/>
            </a:solidFill>
            <a:prstDash val="solid"/>
            <a:headEnd type="none"/>
            <a:tailEnd type="none"/>
          </a:ln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56" name="Shape 46"/>
          <p:cNvSpPr/>
          <p:nvPr/>
        </p:nvSpPr>
        <p:spPr>
          <a:xfrm>
            <a:off x="8156448" y="4956048"/>
            <a:ext cx="201168" cy="201168"/>
          </a:xfrm>
          <a:prstGeom prst="roundRect">
            <a:avLst>
              <a:gd name="adj" fmla="val 45455"/>
            </a:avLst>
          </a:prstGeom>
          <a:solidFill>
            <a:srgbClr val="389E0D"/>
          </a:solidFill>
          <a:ln w="19050">
            <a:solidFill>
              <a:srgbClr val="389E0D"/>
            </a:solidFill>
            <a:prstDash val="solid"/>
            <a:headEnd type="none"/>
            <a:tailEnd type="none"/>
          </a:ln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57" name="Shape 47"/>
          <p:cNvSpPr/>
          <p:nvPr/>
        </p:nvSpPr>
        <p:spPr>
          <a:xfrm>
            <a:off x="4599432" y="5468112"/>
            <a:ext cx="201168" cy="201168"/>
          </a:xfrm>
          <a:prstGeom prst="roundRect">
            <a:avLst>
              <a:gd name="adj" fmla="val 45455"/>
            </a:avLst>
          </a:prstGeom>
          <a:solidFill>
            <a:srgbClr val="6DC947"/>
          </a:solidFill>
          <a:ln w="19050">
            <a:solidFill>
              <a:srgbClr val="6DC947"/>
            </a:solidFill>
            <a:prstDash val="solid"/>
            <a:headEnd type="none"/>
            <a:tailEnd type="none"/>
          </a:ln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58" name="Shape 48"/>
          <p:cNvSpPr/>
          <p:nvPr/>
        </p:nvSpPr>
        <p:spPr>
          <a:xfrm>
            <a:off x="11786616" y="4370832"/>
            <a:ext cx="201168" cy="201168"/>
          </a:xfrm>
          <a:prstGeom prst="roundRect">
            <a:avLst>
              <a:gd name="adj" fmla="val 45455"/>
            </a:avLst>
          </a:prstGeom>
          <a:solidFill>
            <a:srgbClr val="6DC947"/>
          </a:solidFill>
          <a:ln w="19050">
            <a:solidFill>
              <a:srgbClr val="6DC947"/>
            </a:solidFill>
            <a:prstDash val="solid"/>
            <a:headEnd type="none"/>
            <a:tailEnd type="none"/>
          </a:ln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59" name="Text 49"/>
          <p:cNvSpPr txBox="1"/>
          <p:nvPr/>
        </p:nvSpPr>
        <p:spPr>
          <a:xfrm>
            <a:off x="1069848" y="3218688"/>
            <a:ext cx="155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5000"/>
              </a:lnSpc>
            </a:pPr>
            <a:r>
              <a:rPr lang="en-US" sz="12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</a:t>
            </a:r>
            <a:endParaRPr lang="en-US" sz="1200" dirty="0"/>
          </a:p>
        </p:txBody>
      </p:sp>
      <p:sp>
        <p:nvSpPr>
          <p:cNvPr id="60" name="Text 50"/>
          <p:cNvSpPr txBox="1"/>
          <p:nvPr/>
        </p:nvSpPr>
        <p:spPr>
          <a:xfrm>
            <a:off x="8183880" y="2414016"/>
            <a:ext cx="155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5000"/>
              </a:lnSpc>
            </a:pPr>
            <a:r>
              <a:rPr lang="en-US" sz="12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</a:t>
            </a:r>
            <a:endParaRPr lang="en-US" sz="1200" dirty="0"/>
          </a:p>
        </p:txBody>
      </p:sp>
      <p:sp>
        <p:nvSpPr>
          <p:cNvPr id="61" name="Text 51"/>
          <p:cNvSpPr txBox="1"/>
          <p:nvPr/>
        </p:nvSpPr>
        <p:spPr>
          <a:xfrm>
            <a:off x="4636008" y="2926080"/>
            <a:ext cx="155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5000"/>
              </a:lnSpc>
            </a:pPr>
            <a:r>
              <a:rPr lang="en-US" sz="12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</a:t>
            </a:r>
            <a:endParaRPr lang="en-US" sz="1200" dirty="0"/>
          </a:p>
        </p:txBody>
      </p:sp>
      <p:sp>
        <p:nvSpPr>
          <p:cNvPr id="62" name="Text 52"/>
          <p:cNvSpPr txBox="1"/>
          <p:nvPr/>
        </p:nvSpPr>
        <p:spPr>
          <a:xfrm>
            <a:off x="11814048" y="1828800"/>
            <a:ext cx="155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5000"/>
              </a:lnSpc>
            </a:pPr>
            <a:r>
              <a:rPr lang="en-US" sz="12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</a:t>
            </a:r>
            <a:endParaRPr lang="en-US" sz="1200" dirty="0"/>
          </a:p>
        </p:txBody>
      </p:sp>
      <p:sp>
        <p:nvSpPr>
          <p:cNvPr id="63" name="Text 53"/>
          <p:cNvSpPr txBox="1"/>
          <p:nvPr/>
        </p:nvSpPr>
        <p:spPr>
          <a:xfrm>
            <a:off x="1060704" y="448970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5000"/>
              </a:lnSpc>
            </a:pPr>
            <a:r>
              <a:rPr lang="en-US" sz="12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</a:t>
            </a:r>
            <a:endParaRPr lang="en-US" sz="1200" dirty="0"/>
          </a:p>
        </p:txBody>
      </p:sp>
      <p:sp>
        <p:nvSpPr>
          <p:cNvPr id="64" name="Text 54"/>
          <p:cNvSpPr txBox="1"/>
          <p:nvPr/>
        </p:nvSpPr>
        <p:spPr>
          <a:xfrm>
            <a:off x="8174736" y="368503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5000"/>
              </a:lnSpc>
            </a:pPr>
            <a:r>
              <a:rPr lang="en-US" sz="12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</a:t>
            </a:r>
            <a:endParaRPr lang="en-US" sz="1200" dirty="0"/>
          </a:p>
        </p:txBody>
      </p:sp>
      <p:sp>
        <p:nvSpPr>
          <p:cNvPr id="65" name="Text 55"/>
          <p:cNvSpPr txBox="1"/>
          <p:nvPr/>
        </p:nvSpPr>
        <p:spPr>
          <a:xfrm>
            <a:off x="4626864" y="4197096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5000"/>
              </a:lnSpc>
            </a:pPr>
            <a:r>
              <a:rPr lang="en-US" sz="12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</a:t>
            </a:r>
            <a:endParaRPr lang="en-US" sz="1200" dirty="0"/>
          </a:p>
        </p:txBody>
      </p:sp>
      <p:sp>
        <p:nvSpPr>
          <p:cNvPr id="66" name="Text 56"/>
          <p:cNvSpPr txBox="1"/>
          <p:nvPr/>
        </p:nvSpPr>
        <p:spPr>
          <a:xfrm>
            <a:off x="11814048" y="309067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5000"/>
              </a:lnSpc>
            </a:pPr>
            <a:r>
              <a:rPr lang="en-US" sz="12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</a:t>
            </a:r>
            <a:endParaRPr lang="en-US" sz="1200" dirty="0"/>
          </a:p>
        </p:txBody>
      </p:sp>
      <p:sp>
        <p:nvSpPr>
          <p:cNvPr id="67" name="Text 57"/>
          <p:cNvSpPr txBox="1"/>
          <p:nvPr/>
        </p:nvSpPr>
        <p:spPr>
          <a:xfrm>
            <a:off x="1069848" y="5742432"/>
            <a:ext cx="155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5000"/>
              </a:lnSpc>
            </a:pPr>
            <a:r>
              <a:rPr lang="en-US" sz="12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</a:t>
            </a:r>
            <a:endParaRPr lang="en-US" sz="1200" dirty="0"/>
          </a:p>
        </p:txBody>
      </p:sp>
      <p:sp>
        <p:nvSpPr>
          <p:cNvPr id="68" name="Text 58"/>
          <p:cNvSpPr txBox="1"/>
          <p:nvPr/>
        </p:nvSpPr>
        <p:spPr>
          <a:xfrm>
            <a:off x="8183880" y="4946904"/>
            <a:ext cx="155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5000"/>
              </a:lnSpc>
            </a:pPr>
            <a:r>
              <a:rPr lang="en-US" sz="12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</a:t>
            </a:r>
            <a:endParaRPr lang="en-US" sz="1200" dirty="0"/>
          </a:p>
        </p:txBody>
      </p:sp>
      <p:sp>
        <p:nvSpPr>
          <p:cNvPr id="69" name="Text 59"/>
          <p:cNvSpPr txBox="1"/>
          <p:nvPr/>
        </p:nvSpPr>
        <p:spPr>
          <a:xfrm>
            <a:off x="4626864" y="5449824"/>
            <a:ext cx="155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5000"/>
              </a:lnSpc>
            </a:pPr>
            <a:r>
              <a:rPr lang="en-US" sz="12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</a:t>
            </a:r>
            <a:endParaRPr lang="en-US" sz="1200" dirty="0"/>
          </a:p>
        </p:txBody>
      </p:sp>
      <p:sp>
        <p:nvSpPr>
          <p:cNvPr id="70" name="Text 60"/>
          <p:cNvSpPr txBox="1"/>
          <p:nvPr/>
        </p:nvSpPr>
        <p:spPr>
          <a:xfrm>
            <a:off x="11814048" y="4352544"/>
            <a:ext cx="155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5000"/>
              </a:lnSpc>
            </a:pPr>
            <a:r>
              <a:rPr lang="en-US" sz="12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</a:t>
            </a:r>
            <a:endParaRPr lang="en-US" sz="1200" dirty="0"/>
          </a:p>
        </p:txBody>
      </p:sp>
      <p:pic>
        <p:nvPicPr>
          <p:cNvPr id="71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9808" y="475488"/>
            <a:ext cx="612648" cy="8595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33513" r="33574"/>
          <a:stretch/>
        </p:blipFill>
        <p:spPr>
          <a:xfrm>
            <a:off x="0" y="0"/>
            <a:ext cx="5020056" cy="8577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10912" y="2331720"/>
            <a:ext cx="10222992" cy="3895344"/>
          </a:xfrm>
          <a:prstGeom prst="rect">
            <a:avLst/>
          </a:prstGeom>
          <a:solidFill>
            <a:srgbClr val="6DC947"/>
          </a:solidFill>
          <a:ln/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4" name="Shape 1"/>
          <p:cNvSpPr/>
          <p:nvPr/>
        </p:nvSpPr>
        <p:spPr>
          <a:xfrm>
            <a:off x="3730752" y="3145536"/>
            <a:ext cx="2286000" cy="2286000"/>
          </a:xfrm>
          <a:prstGeom prst="rect">
            <a:avLst/>
          </a:prstGeom>
          <a:solidFill>
            <a:srgbClr val="389E0D"/>
          </a:solidFill>
          <a:ln/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3776472" y="3182112"/>
            <a:ext cx="2185416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0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04</a:t>
            </a:r>
            <a:endParaRPr lang="en-US" sz="8000" dirty="0"/>
          </a:p>
        </p:txBody>
      </p:sp>
      <p:sp>
        <p:nvSpPr>
          <p:cNvPr id="6" name="Text 3"/>
          <p:cNvSpPr txBox="1"/>
          <p:nvPr/>
        </p:nvSpPr>
        <p:spPr>
          <a:xfrm>
            <a:off x="6336792" y="3255264"/>
            <a:ext cx="834847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6000" b="1" dirty="0">
                <a:solidFill>
                  <a:srgbClr val="FFFFFF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目标用户与完整学习流程</a:t>
            </a:r>
            <a:endParaRPr lang="en-US" sz="6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389888" y="475488"/>
            <a:ext cx="130484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3600" b="1" dirty="0">
                <a:solidFill>
                  <a:srgbClr val="1B2022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目标用户与完整学习流程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22376" y="1609344"/>
            <a:ext cx="4361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3600" b="1" dirty="0">
                <a:solidFill>
                  <a:srgbClr val="1B2022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目标用户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22376" y="2578608"/>
            <a:ext cx="4361688" cy="3968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24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主用户：备考408的本科低年级学生（需从零构建算法直觉）；</a:t>
            </a:r>
            <a:endParaRPr lang="en-US" sz="2400" dirty="0"/>
          </a:p>
          <a:p>
            <a:pPr algn="l">
              <a:lnSpc>
                <a:spcPct val="125000"/>
              </a:lnSpc>
            </a:pPr>
            <a:r>
              <a:rPr lang="en-US" sz="24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次用户：授课教师（需一键导出知识点覆盖报告与学生卡点分析）；</a:t>
            </a:r>
            <a:endParaRPr lang="en-US" sz="2400" dirty="0"/>
          </a:p>
          <a:p>
            <a:pPr algn="l">
              <a:lnSpc>
                <a:spcPct val="125000"/>
              </a:lnSpc>
            </a:pPr>
            <a:r>
              <a:rPr lang="en-US" sz="24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辅助用户：助教（需快速定位学生提问对应的具体stepIndex与知识卡ID）。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0067544" y="1609344"/>
            <a:ext cx="4361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3600" b="1" dirty="0">
                <a:solidFill>
                  <a:srgbClr val="1B2022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完整学习流程（闭环循环）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10168128" y="3063240"/>
            <a:ext cx="4361688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14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① 启动：填入数组与目标 → 触发引擎生成完整step序列（5步）；</a:t>
            </a:r>
            <a:endParaRPr lang="en-US" sz="1400" dirty="0"/>
          </a:p>
          <a:p>
            <a:pPr>
              <a:lnSpc>
                <a:spcPct val="125000"/>
              </a:lnSpc>
            </a:pPr>
            <a:r>
              <a:rPr lang="en-US" sz="14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② 观察：页面同步呈现数组动画（L/M/R指针+区间高亮）、C/C++</a:t>
            </a:r>
            <a:r>
              <a:rPr lang="en-US" sz="1400" dirty="0" err="1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代码行高亮、变量面板</a:t>
            </a:r>
            <a:r>
              <a:rPr lang="zh-CN" altLang="en-US" sz="14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（</a:t>
            </a:r>
            <a:r>
              <a:rPr lang="en-US" sz="14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 </a:t>
            </a:r>
            <a:r>
              <a:rPr lang="en-US" altLang="zh-CN" sz="14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left/right/mid/A[mid]）；</a:t>
            </a:r>
            <a:endParaRPr lang="en-US" altLang="zh-CN" sz="1400" dirty="0"/>
          </a:p>
          <a:p>
            <a:pPr algn="l">
              <a:lnSpc>
                <a:spcPct val="125000"/>
              </a:lnSpc>
            </a:pPr>
            <a:r>
              <a:rPr lang="en-US" sz="14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③ 提问：暂停于任意步（如第2步）→ 输入自然语言问题（"为什么下一步更新left？"）；</a:t>
            </a:r>
            <a:endParaRPr lang="en-US" sz="1400" dirty="0"/>
          </a:p>
          <a:p>
            <a:pPr algn="l">
              <a:lnSpc>
                <a:spcPct val="125000"/>
              </a:lnSpc>
            </a:pPr>
            <a:r>
              <a:rPr lang="en-US" sz="14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④ 解释：Agent调用当前step状态+知识卡库→返回带出处引用的定制化解释（例："依据《王道2027》P42'有序数组排除规则'，因5&lt;7，下标0～2必不包含7，故left←mid+1=3"）；</a:t>
            </a:r>
            <a:endParaRPr lang="en-US" sz="1400" dirty="0"/>
          </a:p>
          <a:p>
            <a:pPr algn="l">
              <a:lnSpc>
                <a:spcPct val="125000"/>
              </a:lnSpc>
            </a:pPr>
            <a:r>
              <a:rPr lang="en-US" sz="14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⑤ 验证：进入过程练习 → 解答绑定同一step情境的题目（如"此时left应更新为？"）→ 错题触发三级提示（观察→规则→完整解释）；</a:t>
            </a:r>
            <a:endParaRPr lang="en-US" sz="1400" dirty="0"/>
          </a:p>
          <a:p>
            <a:pPr algn="l">
              <a:lnSpc>
                <a:spcPct val="125000"/>
              </a:lnSpc>
            </a:pPr>
            <a:r>
              <a:rPr lang="en-US" sz="14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⑥ 回顾：本机记录永久保存每题情境、作答、提示使用等级与时间戳，刷新不丢失；</a:t>
            </a:r>
            <a:endParaRPr lang="en-US" sz="1400" dirty="0"/>
          </a:p>
          <a:p>
            <a:pPr algn="l">
              <a:lnSpc>
                <a:spcPct val="125000"/>
              </a:lnSpc>
            </a:pPr>
            <a:r>
              <a:rPr lang="en-US" sz="14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⑦ 回归：流程终点自动链接至知识卡原文与教材页码，完成"问题→状态→解释→验证→溯源"闭环。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24144" y="2651760"/>
            <a:ext cx="2139696" cy="3803904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79208" y="2651760"/>
            <a:ext cx="2148840" cy="3803904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80176" y="4416552"/>
            <a:ext cx="301752" cy="301752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24544" y="4416552"/>
            <a:ext cx="301752" cy="301752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7240" y="466344"/>
            <a:ext cx="612648" cy="8595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33513" r="33574"/>
          <a:stretch/>
        </p:blipFill>
        <p:spPr>
          <a:xfrm>
            <a:off x="0" y="0"/>
            <a:ext cx="5020056" cy="8577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10912" y="2331720"/>
            <a:ext cx="10222992" cy="3895344"/>
          </a:xfrm>
          <a:prstGeom prst="rect">
            <a:avLst/>
          </a:prstGeom>
          <a:solidFill>
            <a:srgbClr val="6DC947"/>
          </a:solidFill>
          <a:ln/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4" name="Shape 1"/>
          <p:cNvSpPr/>
          <p:nvPr/>
        </p:nvSpPr>
        <p:spPr>
          <a:xfrm>
            <a:off x="3730752" y="3145536"/>
            <a:ext cx="2286000" cy="2286000"/>
          </a:xfrm>
          <a:prstGeom prst="rect">
            <a:avLst/>
          </a:prstGeom>
          <a:solidFill>
            <a:srgbClr val="389E0D"/>
          </a:solidFill>
          <a:ln/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3776472" y="3182112"/>
            <a:ext cx="2185416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0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05</a:t>
            </a:r>
            <a:endParaRPr lang="en-US" sz="8000" dirty="0"/>
          </a:p>
        </p:txBody>
      </p:sp>
      <p:sp>
        <p:nvSpPr>
          <p:cNvPr id="6" name="Text 3"/>
          <p:cNvSpPr txBox="1"/>
          <p:nvPr/>
        </p:nvSpPr>
        <p:spPr>
          <a:xfrm>
            <a:off x="6336792" y="3255264"/>
            <a:ext cx="834847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6000" b="1" dirty="0">
                <a:solidFill>
                  <a:srgbClr val="FFFFFF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领域资料、工具及Agent定制</a:t>
            </a:r>
            <a:endParaRPr lang="en-US" sz="6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0" y="2377440"/>
            <a:ext cx="4014216" cy="5458968"/>
          </a:xfrm>
          <a:prstGeom prst="roundRect">
            <a:avLst>
              <a:gd name="adj" fmla="val 2961"/>
            </a:avLst>
          </a:prstGeom>
          <a:noFill/>
          <a:ln w="19050">
            <a:solidFill>
              <a:srgbClr val="808080">
                <a:alpha val="50196"/>
              </a:srgbClr>
            </a:solidFill>
            <a:prstDash val="sysDot"/>
            <a:headEnd type="none"/>
            <a:tailEnd type="none"/>
          </a:ln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0305288" y="2377440"/>
            <a:ext cx="4014216" cy="5458968"/>
          </a:xfrm>
          <a:prstGeom prst="roundRect">
            <a:avLst>
              <a:gd name="adj" fmla="val 2961"/>
            </a:avLst>
          </a:prstGeom>
          <a:noFill/>
          <a:ln w="19050">
            <a:solidFill>
              <a:srgbClr val="808080">
                <a:alpha val="50196"/>
              </a:srgbClr>
            </a:solidFill>
            <a:prstDash val="sysDot"/>
            <a:headEnd type="none"/>
            <a:tailEnd type="none"/>
          </a:ln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920240" y="2377440"/>
            <a:ext cx="4005072" cy="5458968"/>
          </a:xfrm>
          <a:prstGeom prst="roundRect">
            <a:avLst>
              <a:gd name="adj" fmla="val 2968"/>
            </a:avLst>
          </a:prstGeom>
          <a:noFill/>
          <a:ln w="19050">
            <a:solidFill>
              <a:srgbClr val="808080">
                <a:alpha val="50196"/>
              </a:srgbClr>
            </a:solidFill>
            <a:prstDash val="sysDot"/>
            <a:headEnd type="none"/>
            <a:tailEnd type="none"/>
          </a:ln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371600" y="466344"/>
            <a:ext cx="130484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3600" b="1" dirty="0">
                <a:solidFill>
                  <a:srgbClr val="1B2022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领域资料与工具链</a:t>
            </a:r>
            <a:endParaRPr lang="en-US" sz="3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20824" y="2496312"/>
            <a:ext cx="3813048" cy="160020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20824" y="4306824"/>
            <a:ext cx="3813048" cy="1600200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11680" y="6117336"/>
            <a:ext cx="3813048" cy="1600200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9536" y="2496312"/>
            <a:ext cx="868680" cy="1600200"/>
          </a:xfrm>
          <a:prstGeom prst="rect">
            <a:avLst/>
          </a:prstGeom>
        </p:spPr>
      </p:pic>
      <p:pic>
        <p:nvPicPr>
          <p:cNvPr id="1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9536" y="4306824"/>
            <a:ext cx="868680" cy="1600200"/>
          </a:xfrm>
          <a:prstGeom prst="rect">
            <a:avLst/>
          </a:prstGeom>
        </p:spPr>
      </p:pic>
      <p:pic>
        <p:nvPicPr>
          <p:cNvPr id="1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9536" y="6117336"/>
            <a:ext cx="868680" cy="1600200"/>
          </a:xfrm>
          <a:prstGeom prst="rect">
            <a:avLst/>
          </a:prstGeom>
        </p:spPr>
      </p:pic>
      <p:sp>
        <p:nvSpPr>
          <p:cNvPr id="12" name="Shape 4"/>
          <p:cNvSpPr/>
          <p:nvPr/>
        </p:nvSpPr>
        <p:spPr>
          <a:xfrm>
            <a:off x="1060704" y="397764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  <a:headEnd type="none"/>
            <a:tailEnd type="none"/>
          </a:ln>
          <a:effectLst>
            <a:outerShdw blurRad="76200" sx="102000" sy="102000" algn="ctr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5"/>
          <p:cNvSpPr/>
          <p:nvPr/>
        </p:nvSpPr>
        <p:spPr>
          <a:xfrm>
            <a:off x="1060704" y="5779008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  <a:headEnd type="none"/>
            <a:tailEnd type="none"/>
          </a:ln>
          <a:effectLst>
            <a:outerShdw blurRad="76200" sx="102000" sy="102000" algn="ctr" rotWithShape="0">
              <a:srgbClr val="000000">
                <a:alpha val="25000"/>
              </a:srgbClr>
            </a:outerShdw>
          </a:effectLst>
        </p:spPr>
      </p:sp>
      <p:pic>
        <p:nvPicPr>
          <p:cNvPr id="14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9536" y="1691640"/>
            <a:ext cx="868680" cy="512064"/>
          </a:xfrm>
          <a:prstGeom prst="rect">
            <a:avLst/>
          </a:prstGeom>
        </p:spPr>
      </p:pic>
      <p:pic>
        <p:nvPicPr>
          <p:cNvPr id="15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38528" y="1691640"/>
            <a:ext cx="12399264" cy="512064"/>
          </a:xfrm>
          <a:prstGeom prst="rect">
            <a:avLst/>
          </a:prstGeom>
        </p:spPr>
      </p:pic>
      <p:pic>
        <p:nvPicPr>
          <p:cNvPr id="16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17920" y="2496312"/>
            <a:ext cx="3822192" cy="1600200"/>
          </a:xfrm>
          <a:prstGeom prst="rect">
            <a:avLst/>
          </a:prstGeom>
        </p:spPr>
      </p:pic>
      <p:pic>
        <p:nvPicPr>
          <p:cNvPr id="17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17920" y="4306824"/>
            <a:ext cx="3822192" cy="1600200"/>
          </a:xfrm>
          <a:prstGeom prst="rect">
            <a:avLst/>
          </a:prstGeom>
        </p:spPr>
      </p:pic>
      <p:pic>
        <p:nvPicPr>
          <p:cNvPr id="18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17920" y="6117336"/>
            <a:ext cx="3822192" cy="1600200"/>
          </a:xfrm>
          <a:prstGeom prst="rect">
            <a:avLst/>
          </a:prstGeom>
        </p:spPr>
      </p:pic>
      <p:pic>
        <p:nvPicPr>
          <p:cNvPr id="19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05872" y="2496312"/>
            <a:ext cx="3822192" cy="1600200"/>
          </a:xfrm>
          <a:prstGeom prst="rect">
            <a:avLst/>
          </a:prstGeom>
        </p:spPr>
      </p:pic>
      <p:pic>
        <p:nvPicPr>
          <p:cNvPr id="20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405872" y="4306824"/>
            <a:ext cx="3822192" cy="1600200"/>
          </a:xfrm>
          <a:prstGeom prst="rect">
            <a:avLst/>
          </a:prstGeom>
        </p:spPr>
      </p:pic>
      <p:pic>
        <p:nvPicPr>
          <p:cNvPr id="21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405872" y="6117336"/>
            <a:ext cx="3822192" cy="1600200"/>
          </a:xfrm>
          <a:prstGeom prst="rect">
            <a:avLst/>
          </a:prstGeom>
        </p:spPr>
      </p:pic>
      <p:sp>
        <p:nvSpPr>
          <p:cNvPr id="22" name="Text 6"/>
          <p:cNvSpPr txBox="1"/>
          <p:nvPr/>
        </p:nvSpPr>
        <p:spPr>
          <a:xfrm>
            <a:off x="932688" y="6693408"/>
            <a:ext cx="722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en-US" sz="1600" b="1" dirty="0">
                <a:solidFill>
                  <a:srgbClr val="FFFFFF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未来</a:t>
            </a:r>
            <a:endParaRPr lang="en-US" sz="1600" dirty="0"/>
          </a:p>
        </p:txBody>
      </p:sp>
      <p:sp>
        <p:nvSpPr>
          <p:cNvPr id="23" name="Text 7"/>
          <p:cNvSpPr txBox="1"/>
          <p:nvPr/>
        </p:nvSpPr>
        <p:spPr>
          <a:xfrm>
            <a:off x="932688" y="4892040"/>
            <a:ext cx="7223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en-US" sz="1600" b="1" dirty="0">
                <a:solidFill>
                  <a:srgbClr val="FFFFFF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现在</a:t>
            </a:r>
            <a:endParaRPr lang="en-US" sz="1600" dirty="0"/>
          </a:p>
        </p:txBody>
      </p:sp>
      <p:sp>
        <p:nvSpPr>
          <p:cNvPr id="24" name="Text 8"/>
          <p:cNvSpPr txBox="1"/>
          <p:nvPr/>
        </p:nvSpPr>
        <p:spPr>
          <a:xfrm>
            <a:off x="932688" y="3108960"/>
            <a:ext cx="7223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en-US" sz="1600" b="1" dirty="0">
                <a:solidFill>
                  <a:srgbClr val="FFFFFF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过去</a:t>
            </a:r>
            <a:endParaRPr lang="en-US" sz="1600" dirty="0"/>
          </a:p>
        </p:txBody>
      </p:sp>
      <p:sp>
        <p:nvSpPr>
          <p:cNvPr id="25" name="Text 9"/>
          <p:cNvSpPr txBox="1"/>
          <p:nvPr/>
        </p:nvSpPr>
        <p:spPr>
          <a:xfrm>
            <a:off x="932688" y="1764792"/>
            <a:ext cx="7223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en-US" sz="1600" b="1" dirty="0">
                <a:solidFill>
                  <a:srgbClr val="1B2022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思考</a:t>
            </a:r>
            <a:endParaRPr lang="en-US" sz="1600" dirty="0"/>
          </a:p>
        </p:txBody>
      </p:sp>
      <p:sp>
        <p:nvSpPr>
          <p:cNvPr id="26" name="Text 10"/>
          <p:cNvSpPr txBox="1"/>
          <p:nvPr/>
        </p:nvSpPr>
        <p:spPr>
          <a:xfrm>
            <a:off x="2194560" y="1773936"/>
            <a:ext cx="34564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en-US" sz="1600" b="1" dirty="0">
                <a:solidFill>
                  <a:srgbClr val="1B2022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核心教材</a:t>
            </a:r>
            <a:endParaRPr lang="en-US" sz="1600" dirty="0"/>
          </a:p>
        </p:txBody>
      </p:sp>
      <p:sp>
        <p:nvSpPr>
          <p:cNvPr id="27" name="Text 11"/>
          <p:cNvSpPr txBox="1"/>
          <p:nvPr/>
        </p:nvSpPr>
        <p:spPr>
          <a:xfrm>
            <a:off x="6409944" y="1773936"/>
            <a:ext cx="34564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en-US" sz="1600" b="1" dirty="0">
                <a:solidFill>
                  <a:srgbClr val="1B2022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工具链</a:t>
            </a:r>
            <a:endParaRPr lang="en-US" sz="1600" dirty="0"/>
          </a:p>
        </p:txBody>
      </p:sp>
      <p:sp>
        <p:nvSpPr>
          <p:cNvPr id="28" name="Text 12"/>
          <p:cNvSpPr txBox="1"/>
          <p:nvPr/>
        </p:nvSpPr>
        <p:spPr>
          <a:xfrm>
            <a:off x="10597896" y="1773936"/>
            <a:ext cx="34564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en-US" sz="1600" b="1" dirty="0">
                <a:solidFill>
                  <a:srgbClr val="1B2022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Agent</a:t>
            </a:r>
            <a:endParaRPr lang="en-US" sz="1600" dirty="0"/>
          </a:p>
        </p:txBody>
      </p:sp>
      <p:pic>
        <p:nvPicPr>
          <p:cNvPr id="29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52144" y="4069080"/>
            <a:ext cx="274320" cy="274320"/>
          </a:xfrm>
          <a:prstGeom prst="rect">
            <a:avLst/>
          </a:prstGeom>
        </p:spPr>
      </p:pic>
      <p:pic>
        <p:nvPicPr>
          <p:cNvPr id="30" name="Image 1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43000" y="5870448"/>
            <a:ext cx="292608" cy="292608"/>
          </a:xfrm>
          <a:prstGeom prst="rect">
            <a:avLst/>
          </a:prstGeom>
        </p:spPr>
      </p:pic>
      <p:sp>
        <p:nvSpPr>
          <p:cNvPr id="31" name="Text 13"/>
          <p:cNvSpPr txBox="1"/>
          <p:nvPr/>
        </p:nvSpPr>
        <p:spPr>
          <a:xfrm>
            <a:off x="2130552" y="2596896"/>
            <a:ext cx="357530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14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早期二分查找教学依赖零散网络博客，缺乏统一教材与标准实现，学生难以建立系统知识框架，代码实现版本混乱导致理解偏差</a:t>
            </a:r>
            <a:endParaRPr lang="en-US" sz="1400" dirty="0"/>
          </a:p>
        </p:txBody>
      </p:sp>
      <p:sp>
        <p:nvSpPr>
          <p:cNvPr id="32" name="Text 14"/>
          <p:cNvSpPr txBox="1"/>
          <p:nvPr/>
        </p:nvSpPr>
        <p:spPr>
          <a:xfrm>
            <a:off x="2130552" y="4407408"/>
            <a:ext cx="357530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14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现采用《王道数据结构2027》第2章“查找”节（P38–P45）作为核心教材，配套C/C++标准闭区间实现及lineId映射表，严格对齐408统考大纲ALG-SEARCH-007能力要求</a:t>
            </a:r>
            <a:endParaRPr lang="en-US" sz="1400" dirty="0"/>
          </a:p>
        </p:txBody>
      </p:sp>
      <p:sp>
        <p:nvSpPr>
          <p:cNvPr id="33" name="Text 15"/>
          <p:cNvSpPr txBox="1"/>
          <p:nvPr/>
        </p:nvSpPr>
        <p:spPr>
          <a:xfrm>
            <a:off x="2130552" y="6236208"/>
            <a:ext cx="357530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14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未来将拓展多语言实现版本库，建立教材章节与考纲条目的动态关联图谱，支持个性化学习路径的智能推荐</a:t>
            </a:r>
            <a:endParaRPr lang="en-US" sz="1400" dirty="0"/>
          </a:p>
        </p:txBody>
      </p:sp>
      <p:sp>
        <p:nvSpPr>
          <p:cNvPr id="34" name="Text 16"/>
          <p:cNvSpPr txBox="1"/>
          <p:nvPr/>
        </p:nvSpPr>
        <p:spPr>
          <a:xfrm>
            <a:off x="6309360" y="2596896"/>
            <a:ext cx="357530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14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传统工具分散在多个平台，知识卡片缺乏核验标记，题库与代码执行脱节，检索结果常包含未验证信息</a:t>
            </a:r>
            <a:endParaRPr lang="en-US" sz="1400" dirty="0"/>
          </a:p>
        </p:txBody>
      </p:sp>
      <p:sp>
        <p:nvSpPr>
          <p:cNvPr id="35" name="Text 17"/>
          <p:cNvSpPr txBox="1"/>
          <p:nvPr/>
        </p:nvSpPr>
        <p:spPr>
          <a:xfrm>
            <a:off x="6318504" y="4407408"/>
            <a:ext cx="357530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14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当前强制绑定三元组作为输入，输出结构化，未核验卡不参与检索，超时返回“本次解释未完成，可重试”</a:t>
            </a:r>
            <a:endParaRPr lang="en-US" sz="1400" dirty="0"/>
          </a:p>
        </p:txBody>
      </p:sp>
      <p:sp>
        <p:nvSpPr>
          <p:cNvPr id="36" name="Text 18"/>
          <p:cNvSpPr txBox="1"/>
          <p:nvPr/>
        </p:nvSpPr>
        <p:spPr>
          <a:xfrm>
            <a:off x="6318504" y="6236208"/>
            <a:ext cx="357530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14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下一步实现工具链深度联动：题库自动关联知识卡片、Agent解释实时嵌入可视化追踪、检索结果可信度评分机制</a:t>
            </a:r>
            <a:endParaRPr lang="en-US" sz="1400" dirty="0"/>
          </a:p>
        </p:txBody>
      </p:sp>
      <p:sp>
        <p:nvSpPr>
          <p:cNvPr id="37" name="Text 19"/>
          <p:cNvSpPr txBox="1"/>
          <p:nvPr/>
        </p:nvSpPr>
        <p:spPr>
          <a:xfrm>
            <a:off x="10533888" y="2596896"/>
            <a:ext cx="357530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14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初期Agent采用通用对话模式，缺乏算法教学专用约束，输出解释与教材脱节，无法追溯知识来源</a:t>
            </a:r>
            <a:endParaRPr lang="en-US" sz="1400" dirty="0"/>
          </a:p>
        </p:txBody>
      </p:sp>
      <p:sp>
        <p:nvSpPr>
          <p:cNvPr id="38" name="Text 20"/>
          <p:cNvSpPr txBox="1"/>
          <p:nvPr/>
        </p:nvSpPr>
        <p:spPr>
          <a:xfrm>
            <a:off x="10533888" y="4407408"/>
            <a:ext cx="357530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zh-CN" altLang="en-US" sz="14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已绑定</a:t>
            </a:r>
            <a:r>
              <a:rPr lang="en-US" altLang="zh-CN" sz="14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408</a:t>
            </a:r>
            <a:r>
              <a:rPr lang="zh-CN" altLang="en-US" sz="14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教材知识库，算法解释严格对照</a:t>
            </a:r>
            <a:r>
              <a:rPr lang="en-US" altLang="zh-CN" sz="14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《</a:t>
            </a:r>
            <a:r>
              <a:rPr lang="zh-CN" altLang="en-US" sz="14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王道数据结构</a:t>
            </a:r>
            <a:r>
              <a:rPr lang="en-US" altLang="zh-CN" sz="14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2027》</a:t>
            </a:r>
            <a:r>
              <a:rPr lang="zh-CN" altLang="en-US" sz="14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原文，可对照教材页码核验</a:t>
            </a:r>
            <a:endParaRPr lang="en-US" sz="1400" dirty="0"/>
          </a:p>
        </p:txBody>
      </p:sp>
      <p:sp>
        <p:nvSpPr>
          <p:cNvPr id="39" name="Text 21"/>
          <p:cNvSpPr txBox="1"/>
          <p:nvPr/>
        </p:nvSpPr>
        <p:spPr>
          <a:xfrm>
            <a:off x="10533888" y="6236208"/>
            <a:ext cx="357530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14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未来将引入学习行为分析，动态调整解释深度，支持多模态输出（文本+动画+语音），构建可验证的算法教学Agent生态</a:t>
            </a:r>
            <a:endParaRPr lang="en-US" sz="1400" dirty="0"/>
          </a:p>
        </p:txBody>
      </p:sp>
      <p:pic>
        <p:nvPicPr>
          <p:cNvPr id="40" name="Image 1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58952" y="457200"/>
            <a:ext cx="612648" cy="85953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33513" r="33574"/>
          <a:stretch/>
        </p:blipFill>
        <p:spPr>
          <a:xfrm>
            <a:off x="0" y="0"/>
            <a:ext cx="5020056" cy="8577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10912" y="2331720"/>
            <a:ext cx="10222992" cy="3895344"/>
          </a:xfrm>
          <a:prstGeom prst="rect">
            <a:avLst/>
          </a:prstGeom>
          <a:solidFill>
            <a:srgbClr val="6DC947"/>
          </a:solidFill>
          <a:ln/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4" name="Shape 1"/>
          <p:cNvSpPr/>
          <p:nvPr/>
        </p:nvSpPr>
        <p:spPr>
          <a:xfrm>
            <a:off x="3730752" y="3145536"/>
            <a:ext cx="2286000" cy="2286000"/>
          </a:xfrm>
          <a:prstGeom prst="rect">
            <a:avLst/>
          </a:prstGeom>
          <a:solidFill>
            <a:srgbClr val="389E0D"/>
          </a:solidFill>
          <a:ln/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3776472" y="3182112"/>
            <a:ext cx="2185416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0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06</a:t>
            </a:r>
            <a:endParaRPr lang="en-US" sz="8000" dirty="0"/>
          </a:p>
        </p:txBody>
      </p:sp>
      <p:sp>
        <p:nvSpPr>
          <p:cNvPr id="6" name="Text 3"/>
          <p:cNvSpPr txBox="1"/>
          <p:nvPr/>
        </p:nvSpPr>
        <p:spPr>
          <a:xfrm>
            <a:off x="6336792" y="3255264"/>
            <a:ext cx="834847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6000" b="1" dirty="0">
                <a:solidFill>
                  <a:srgbClr val="FFFFFF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二分查找样例演示</a:t>
            </a:r>
            <a:endParaRPr lang="en-US" sz="6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3048" cy="8577072"/>
          </a:xfrm>
          <a:prstGeom prst="rect">
            <a:avLst/>
          </a:prstGeom>
          <a:gradFill flip="none" rotWithShape="1">
            <a:gsLst>
              <a:gs pos="0">
                <a:srgbClr val="389E0D">
                  <a:alpha val="10000"/>
                </a:srgbClr>
              </a:gs>
              <a:gs pos="52991">
                <a:srgbClr val="389E0D">
                  <a:alpha val="0"/>
                </a:srgbClr>
              </a:gs>
            </a:gsLst>
            <a:lin ang="5400000" scaled="0"/>
          </a:gradFill>
          <a:ln/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1389888" y="466344"/>
            <a:ext cx="1304848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3600" b="1" dirty="0">
                <a:solidFill>
                  <a:srgbClr val="1B2022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二分查找样例演示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86984" y="1920240"/>
          <a:ext cx="8833104" cy="5541264"/>
        </p:xfrm>
        <a:graphic>
          <a:graphicData uri="http://schemas.openxmlformats.org/drawingml/2006/table">
            <a:tbl>
              <a:tblPr/>
              <a:tblGrid>
                <a:gridCol w="1261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923544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ource Han Sans CN Regular" pitchFamily="34" charset="0"/>
                          <a:ea typeface="Source Han Sans CN Regular" pitchFamily="34" charset="-122"/>
                          <a:cs typeface="Source Han Sans CN Regular" pitchFamily="34" charset="-120"/>
                        </a:rPr>
                        <a:t> 内部stepIndex 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9E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ource Han Sans CN Regular" pitchFamily="34" charset="0"/>
                          <a:ea typeface="Source Han Sans CN Regular" pitchFamily="34" charset="-122"/>
                          <a:cs typeface="Source Han Sans CN Regular" pitchFamily="34" charset="-120"/>
                        </a:rPr>
                        <a:t> 用户看到 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9E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ource Han Sans CN Regular" pitchFamily="34" charset="0"/>
                          <a:ea typeface="Source Han Sans CN Regular" pitchFamily="34" charset="-122"/>
                          <a:cs typeface="Source Han Sans CN Regular" pitchFamily="34" charset="-120"/>
                        </a:rPr>
                        <a:t> left 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9E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ource Han Sans CN Regular" pitchFamily="34" charset="0"/>
                          <a:ea typeface="Source Han Sans CN Regular" pitchFamily="34" charset="-122"/>
                          <a:cs typeface="Source Han Sans CN Regular" pitchFamily="34" charset="-120"/>
                        </a:rPr>
                        <a:t> right 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9E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ource Han Sans CN Regular" pitchFamily="34" charset="0"/>
                          <a:ea typeface="Source Han Sans CN Regular" pitchFamily="34" charset="-122"/>
                          <a:cs typeface="Source Han Sans CN Regular" pitchFamily="34" charset="-120"/>
                        </a:rPr>
                        <a:t> mid 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9E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ource Han Sans CN Regular" pitchFamily="34" charset="0"/>
                          <a:ea typeface="Source Han Sans CN Regular" pitchFamily="34" charset="-122"/>
                          <a:cs typeface="Source Han Sans CN Regular" pitchFamily="34" charset="-120"/>
                        </a:rPr>
                        <a:t> 当前事件/说明 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9E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ource Han Sans CN Regular" pitchFamily="34" charset="0"/>
                          <a:ea typeface="Source Han Sans CN Regular" pitchFamily="34" charset="-122"/>
                          <a:cs typeface="Source Han Sans CN Regular" pitchFamily="34" charset="-120"/>
                        </a:rPr>
                        <a:t> result 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9E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3544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Source Han Sans CN Regular" pitchFamily="34" charset="0"/>
                          <a:ea typeface="Source Han Sans CN Regular" pitchFamily="34" charset="-122"/>
                          <a:cs typeface="Source Han Sans CN Regular" pitchFamily="34" charset="-120"/>
                        </a:rPr>
                        <a:t> 0 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Source Han Sans CN Regular" pitchFamily="34" charset="0"/>
                          <a:ea typeface="Source Han Sans CN Regular" pitchFamily="34" charset="-122"/>
                          <a:cs typeface="Source Han Sans CN Regular" pitchFamily="34" charset="-120"/>
                        </a:rPr>
                        <a:t> 第1步：初始化 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Source Han Sans CN Regular" pitchFamily="34" charset="0"/>
                          <a:ea typeface="Source Han Sans CN Regular" pitchFamily="34" charset="-122"/>
                          <a:cs typeface="Source Han Sans CN Regular" pitchFamily="34" charset="-120"/>
                        </a:rPr>
                        <a:t> 0 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Source Han Sans CN Regular" pitchFamily="34" charset="0"/>
                          <a:ea typeface="Source Han Sans CN Regular" pitchFamily="34" charset="-122"/>
                          <a:cs typeface="Source Han Sans CN Regular" pitchFamily="34" charset="-120"/>
                        </a:rPr>
                        <a:t> 4 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Source Han Sans CN Regular" pitchFamily="34" charset="0"/>
                          <a:ea typeface="Source Han Sans CN Regular" pitchFamily="34" charset="-122"/>
                          <a:cs typeface="Source Han Sans CN Regular" pitchFamily="34" charset="-120"/>
                        </a:rPr>
                        <a:t> 未计算 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Source Han Sans CN Regular" pitchFamily="34" charset="0"/>
                          <a:ea typeface="Source Han Sans CN Regular" pitchFamily="34" charset="-122"/>
                          <a:cs typeface="Source Han Sans CN Regular" pitchFamily="34" charset="-120"/>
                        </a:rPr>
                        <a:t> 初始搜索范围为下标0～4 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Source Han Sans CN Regular" pitchFamily="34" charset="0"/>
                          <a:ea typeface="Source Han Sans CN Regular" pitchFamily="34" charset="-122"/>
                          <a:cs typeface="Source Han Sans CN Regular" pitchFamily="34" charset="-120"/>
                        </a:rPr>
                        <a:t> 未结束 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3544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Source Han Sans CN Regular" pitchFamily="34" charset="0"/>
                          <a:ea typeface="Source Han Sans CN Regular" pitchFamily="34" charset="-122"/>
                          <a:cs typeface="Source Han Sans CN Regular" pitchFamily="34" charset="-120"/>
                        </a:rPr>
                        <a:t> 1 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Source Han Sans CN Regular" pitchFamily="34" charset="0"/>
                          <a:ea typeface="Source Han Sans CN Regular" pitchFamily="34" charset="-122"/>
                          <a:cs typeface="Source Han Sans CN Regular" pitchFamily="34" charset="-120"/>
                        </a:rPr>
                        <a:t> 第2步：计算并比较中点 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Source Han Sans CN Regular" pitchFamily="34" charset="0"/>
                          <a:ea typeface="Source Han Sans CN Regular" pitchFamily="34" charset="-122"/>
                          <a:cs typeface="Source Han Sans CN Regular" pitchFamily="34" charset="-120"/>
                        </a:rPr>
                        <a:t> 0 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Source Han Sans CN Regular" pitchFamily="34" charset="0"/>
                          <a:ea typeface="Source Han Sans CN Regular" pitchFamily="34" charset="-122"/>
                          <a:cs typeface="Source Han Sans CN Regular" pitchFamily="34" charset="-120"/>
                        </a:rPr>
                        <a:t> 4 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Source Han Sans CN Regular" pitchFamily="34" charset="0"/>
                          <a:ea typeface="Source Han Sans CN Regular" pitchFamily="34" charset="-122"/>
                          <a:cs typeface="Source Han Sans CN Regular" pitchFamily="34" charset="-120"/>
                        </a:rPr>
                        <a:t> 2 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Source Han Sans CN Regular" pitchFamily="34" charset="0"/>
                          <a:ea typeface="Source Han Sans CN Regular" pitchFamily="34" charset="-122"/>
                          <a:cs typeface="Source Han Sans CN Regular" pitchFamily="34" charset="-120"/>
                        </a:rPr>
                        <a:t> 中点值5，与目标7比较 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Source Han Sans CN Regular" pitchFamily="34" charset="0"/>
                          <a:ea typeface="Source Han Sans CN Regular" pitchFamily="34" charset="-122"/>
                          <a:cs typeface="Source Han Sans CN Regular" pitchFamily="34" charset="-120"/>
                        </a:rPr>
                        <a:t> 未结束 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3544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Source Han Sans CN Regular" pitchFamily="34" charset="0"/>
                          <a:ea typeface="Source Han Sans CN Regular" pitchFamily="34" charset="-122"/>
                          <a:cs typeface="Source Han Sans CN Regular" pitchFamily="34" charset="-120"/>
                        </a:rPr>
                        <a:t> 2 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Source Han Sans CN Regular" pitchFamily="34" charset="0"/>
                          <a:ea typeface="Source Han Sans CN Regular" pitchFamily="34" charset="-122"/>
                          <a:cs typeface="Source Han Sans CN Regular" pitchFamily="34" charset="-120"/>
                        </a:rPr>
                        <a:t> 第3步：更新left 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Source Han Sans CN Regular" pitchFamily="34" charset="0"/>
                          <a:ea typeface="Source Han Sans CN Regular" pitchFamily="34" charset="-122"/>
                          <a:cs typeface="Source Han Sans CN Regular" pitchFamily="34" charset="-120"/>
                        </a:rPr>
                        <a:t> 3 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Source Han Sans CN Regular" pitchFamily="34" charset="0"/>
                          <a:ea typeface="Source Han Sans CN Regular" pitchFamily="34" charset="-122"/>
                          <a:cs typeface="Source Han Sans CN Regular" pitchFamily="34" charset="-120"/>
                        </a:rPr>
                        <a:t> 4 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Source Han Sans CN Regular" pitchFamily="34" charset="0"/>
                          <a:ea typeface="Source Han Sans CN Regular" pitchFamily="34" charset="-122"/>
                          <a:cs typeface="Source Han Sans CN Regular" pitchFamily="34" charset="-120"/>
                        </a:rPr>
                        <a:t> 未计算 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Source Han Sans CN Regular" pitchFamily="34" charset="0"/>
                          <a:ea typeface="Source Han Sans CN Regular" pitchFamily="34" charset="-122"/>
                          <a:cs typeface="Source Han Sans CN Regular" pitchFamily="34" charset="-120"/>
                        </a:rPr>
                        <a:t> 已排除下标0～2，进入右侧区间 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Source Han Sans CN Regular" pitchFamily="34" charset="0"/>
                          <a:ea typeface="Source Han Sans CN Regular" pitchFamily="34" charset="-122"/>
                          <a:cs typeface="Source Han Sans CN Regular" pitchFamily="34" charset="-120"/>
                        </a:rPr>
                        <a:t> 未结束 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3544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Source Han Sans CN Regular" pitchFamily="34" charset="0"/>
                          <a:ea typeface="Source Han Sans CN Regular" pitchFamily="34" charset="-122"/>
                          <a:cs typeface="Source Han Sans CN Regular" pitchFamily="34" charset="-120"/>
                        </a:rPr>
                        <a:t> 3 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Source Han Sans CN Regular" pitchFamily="34" charset="0"/>
                          <a:ea typeface="Source Han Sans CN Regular" pitchFamily="34" charset="-122"/>
                          <a:cs typeface="Source Han Sans CN Regular" pitchFamily="34" charset="-120"/>
                        </a:rPr>
                        <a:t> 第4步：计算并比较中点 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Source Han Sans CN Regular" pitchFamily="34" charset="0"/>
                          <a:ea typeface="Source Han Sans CN Regular" pitchFamily="34" charset="-122"/>
                          <a:cs typeface="Source Han Sans CN Regular" pitchFamily="34" charset="-120"/>
                        </a:rPr>
                        <a:t> 3 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Source Han Sans CN Regular" pitchFamily="34" charset="0"/>
                          <a:ea typeface="Source Han Sans CN Regular" pitchFamily="34" charset="-122"/>
                          <a:cs typeface="Source Han Sans CN Regular" pitchFamily="34" charset="-120"/>
                        </a:rPr>
                        <a:t> 4 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Source Han Sans CN Regular" pitchFamily="34" charset="0"/>
                          <a:ea typeface="Source Han Sans CN Regular" pitchFamily="34" charset="-122"/>
                          <a:cs typeface="Source Han Sans CN Regular" pitchFamily="34" charset="-120"/>
                        </a:rPr>
                        <a:t> 3 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Source Han Sans CN Regular" pitchFamily="34" charset="0"/>
                          <a:ea typeface="Source Han Sans CN Regular" pitchFamily="34" charset="-122"/>
                          <a:cs typeface="Source Han Sans CN Regular" pitchFamily="34" charset="-120"/>
                        </a:rPr>
                        <a:t> 中点值7，与目标相同 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Source Han Sans CN Regular" pitchFamily="34" charset="0"/>
                          <a:ea typeface="Source Han Sans CN Regular" pitchFamily="34" charset="-122"/>
                          <a:cs typeface="Source Han Sans CN Regular" pitchFamily="34" charset="-120"/>
                        </a:rPr>
                        <a:t> 未结束 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23544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Source Han Sans CN Regular" pitchFamily="34" charset="0"/>
                          <a:ea typeface="Source Han Sans CN Regular" pitchFamily="34" charset="-122"/>
                          <a:cs typeface="Source Han Sans CN Regular" pitchFamily="34" charset="-120"/>
                        </a:rPr>
                        <a:t> 4 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Source Han Sans CN Regular" pitchFamily="34" charset="0"/>
                          <a:ea typeface="Source Han Sans CN Regular" pitchFamily="34" charset="-122"/>
                          <a:cs typeface="Source Han Sans CN Regular" pitchFamily="34" charset="-120"/>
                        </a:rPr>
                        <a:t> 第5步：找到 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Source Han Sans CN Regular" pitchFamily="34" charset="0"/>
                          <a:ea typeface="Source Han Sans CN Regular" pitchFamily="34" charset="-122"/>
                          <a:cs typeface="Source Han Sans CN Regular" pitchFamily="34" charset="-120"/>
                        </a:rPr>
                        <a:t> 3 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Source Han Sans CN Regular" pitchFamily="34" charset="0"/>
                          <a:ea typeface="Source Han Sans CN Regular" pitchFamily="34" charset="-122"/>
                          <a:cs typeface="Source Han Sans CN Regular" pitchFamily="34" charset="-120"/>
                        </a:rPr>
                        <a:t> 4 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Source Han Sans CN Regular" pitchFamily="34" charset="0"/>
                          <a:ea typeface="Source Han Sans CN Regular" pitchFamily="34" charset="-122"/>
                          <a:cs typeface="Source Han Sans CN Regular" pitchFamily="34" charset="-120"/>
                        </a:rPr>
                        <a:t> 3 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Source Han Sans CN Regular" pitchFamily="34" charset="0"/>
                          <a:ea typeface="Source Han Sans CN Regular" pitchFamily="34" charset="-122"/>
                          <a:cs typeface="Source Han Sans CN Regular" pitchFamily="34" charset="-120"/>
                        </a:rPr>
                        <a:t> 找到目标7，匹配下标3 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Source Han Sans CN Regular" pitchFamily="34" charset="0"/>
                          <a:ea typeface="Source Han Sans CN Regular" pitchFamily="34" charset="-122"/>
                          <a:cs typeface="Source Han Sans CN Regular" pitchFamily="34" charset="-120"/>
                        </a:rPr>
                        <a:t> 3 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005840" y="2578608"/>
            <a:ext cx="3593592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15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下标从0开始，闭区间二分查找。</a:t>
            </a:r>
            <a:r>
              <a:rPr lang="zh-CN" altLang="en-US" sz="15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演示视频：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987552" y="5458968"/>
            <a:ext cx="359359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14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步骤显示：用户界面从1开始计数（“第1步”），接口stepIndex从0开始，严禁混淆；</a:t>
            </a:r>
            <a:endParaRPr lang="en-US" sz="1400" dirty="0"/>
          </a:p>
          <a:p>
            <a:pPr algn="l">
              <a:lnSpc>
                <a:spcPct val="125000"/>
              </a:lnSpc>
            </a:pPr>
            <a:r>
              <a:rPr lang="en-US" sz="14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动画细节：第3步mid=null且不复用上轮M标签；第4步M精准指向下标3并高亮；空数组显示“空数组”，无格子渲染。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987552" y="2057400"/>
            <a:ext cx="35935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800" b="1" dirty="0" err="1">
                <a:solidFill>
                  <a:srgbClr val="1B2022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统一交付示例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987552" y="4937760"/>
            <a:ext cx="35935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800" b="1" dirty="0">
                <a:solidFill>
                  <a:srgbClr val="1B2022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UI一致性要求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68096" y="1993392"/>
            <a:ext cx="82296" cy="2350008"/>
          </a:xfrm>
          <a:prstGeom prst="roundRect">
            <a:avLst>
              <a:gd name="adj" fmla="val 211111"/>
            </a:avLst>
          </a:prstGeom>
          <a:solidFill>
            <a:srgbClr val="389E0D"/>
          </a:solidFill>
          <a:ln/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  <p:txBody>
          <a:bodyPr wrap="square" lIns="127" tIns="127" rIns="127" bIns="127" rtlCol="0" anchor="ctr"/>
          <a:lstStyle/>
          <a:p>
            <a:pPr algn="ctr">
              <a:lnSpc>
                <a:spcPct val="125000"/>
              </a:lnSpc>
            </a:pPr>
            <a:r>
              <a:rPr lang="en-US" sz="1400" dirty="0">
                <a:solidFill>
                  <a:srgbClr val="FFFFFF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    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68096" y="4855464"/>
            <a:ext cx="82296" cy="2340864"/>
          </a:xfrm>
          <a:prstGeom prst="roundRect">
            <a:avLst>
              <a:gd name="adj" fmla="val 211111"/>
            </a:avLst>
          </a:prstGeom>
          <a:solidFill>
            <a:srgbClr val="389E0D"/>
          </a:solidFill>
          <a:ln/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  <p:txBody>
          <a:bodyPr wrap="square" lIns="127" tIns="127" rIns="127" bIns="127" rtlCol="0" anchor="ctr"/>
          <a:lstStyle/>
          <a:p>
            <a:pPr algn="ctr">
              <a:lnSpc>
                <a:spcPct val="125000"/>
              </a:lnSpc>
            </a:pPr>
            <a:r>
              <a:rPr lang="en-US" sz="1400" dirty="0">
                <a:solidFill>
                  <a:srgbClr val="FFFFFF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 </a:t>
            </a:r>
            <a:endParaRPr lang="en-US" sz="14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7240" y="466344"/>
            <a:ext cx="612648" cy="85953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42047C5F-C9B1-76CA-F832-FCCDCB1890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6985" y="960037"/>
            <a:ext cx="8833104" cy="960203"/>
          </a:xfrm>
          <a:prstGeom prst="rect">
            <a:avLst/>
          </a:prstGeom>
        </p:spPr>
      </p:pic>
      <p:pic>
        <p:nvPicPr>
          <p:cNvPr id="14" name="lv_0_20261022154046">
            <a:hlinkClick r:id="" action="ppaction://media"/>
            <a:extLst>
              <a:ext uri="{FF2B5EF4-FFF2-40B4-BE49-F238E27FC236}">
                <a16:creationId xmlns:a16="http://schemas.microsoft.com/office/drawing/2014/main" id="{862E342B-5F9D-2C48-4273-0BD0DE9F281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005839" y="2909038"/>
            <a:ext cx="4012969" cy="202872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9537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33513" r="33574"/>
          <a:stretch/>
        </p:blipFill>
        <p:spPr>
          <a:xfrm>
            <a:off x="0" y="0"/>
            <a:ext cx="5020056" cy="8577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10912" y="2331720"/>
            <a:ext cx="10222992" cy="3895344"/>
          </a:xfrm>
          <a:prstGeom prst="rect">
            <a:avLst/>
          </a:prstGeom>
          <a:solidFill>
            <a:srgbClr val="6DC947"/>
          </a:solidFill>
          <a:ln/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4" name="Shape 1"/>
          <p:cNvSpPr/>
          <p:nvPr/>
        </p:nvSpPr>
        <p:spPr>
          <a:xfrm>
            <a:off x="3730752" y="3145536"/>
            <a:ext cx="2286000" cy="2286000"/>
          </a:xfrm>
          <a:prstGeom prst="rect">
            <a:avLst/>
          </a:prstGeom>
          <a:solidFill>
            <a:srgbClr val="389E0D"/>
          </a:solidFill>
          <a:ln/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3776472" y="3182112"/>
            <a:ext cx="2185416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0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07</a:t>
            </a:r>
            <a:endParaRPr lang="en-US" sz="8000" dirty="0"/>
          </a:p>
        </p:txBody>
      </p:sp>
      <p:sp>
        <p:nvSpPr>
          <p:cNvPr id="6" name="Text 3"/>
          <p:cNvSpPr txBox="1"/>
          <p:nvPr/>
        </p:nvSpPr>
        <p:spPr>
          <a:xfrm>
            <a:off x="6336792" y="3255264"/>
            <a:ext cx="834847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6000" b="1" dirty="0">
                <a:solidFill>
                  <a:srgbClr val="FFFFFF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三个真实对比案例与限制</a:t>
            </a:r>
            <a:endParaRPr lang="en-US" sz="6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389888" y="466344"/>
            <a:ext cx="130484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3600" b="1" dirty="0">
                <a:solidFill>
                  <a:srgbClr val="1B2022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三个真实对比案例与限制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50976" y="1700784"/>
            <a:ext cx="6848856" cy="3702488"/>
          </a:xfrm>
          <a:prstGeom prst="roundRect">
            <a:avLst>
              <a:gd name="adj" fmla="val 49831"/>
            </a:avLst>
          </a:prstGeom>
          <a:solidFill>
            <a:srgbClr val="389E0D"/>
          </a:solidFill>
          <a:ln/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50976" y="1700783"/>
            <a:ext cx="5102352" cy="3702489"/>
          </a:xfrm>
          <a:prstGeom prst="rect">
            <a:avLst/>
          </a:prstGeom>
          <a:solidFill>
            <a:srgbClr val="389E0D"/>
          </a:solidFill>
          <a:ln/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 rot="10800000">
            <a:off x="7491845" y="1700782"/>
            <a:ext cx="6763651" cy="3657791"/>
          </a:xfrm>
          <a:prstGeom prst="roundRect">
            <a:avLst>
              <a:gd name="adj" fmla="val 49831"/>
            </a:avLst>
          </a:prstGeom>
          <a:solidFill>
            <a:srgbClr val="6DC947"/>
          </a:solidFill>
          <a:ln/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 rot="10800000">
            <a:off x="9153144" y="1700784"/>
            <a:ext cx="5102352" cy="3657789"/>
          </a:xfrm>
          <a:prstGeom prst="rect">
            <a:avLst/>
          </a:prstGeom>
          <a:solidFill>
            <a:srgbClr val="6DC947"/>
          </a:solidFill>
          <a:ln/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956048" y="1947672"/>
            <a:ext cx="2203704" cy="22037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  <a:headEnd type="none"/>
            <a:tailEnd type="none"/>
          </a:ln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0" y="1947672"/>
            <a:ext cx="2203704" cy="22037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  <a:headEnd type="none"/>
            <a:tailEnd type="none"/>
          </a:ln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202936" y="2523744"/>
            <a:ext cx="17007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zh-CN" altLang="en-US" sz="3600" dirty="0"/>
              <a:t>对比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8298180" y="2559810"/>
            <a:ext cx="17007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zh-CN" altLang="en-US" sz="3600" dirty="0"/>
              <a:t>限制</a:t>
            </a:r>
            <a:endParaRPr lang="en-US" sz="3600" dirty="0"/>
          </a:p>
        </p:txBody>
      </p:sp>
      <p:sp>
        <p:nvSpPr>
          <p:cNvPr id="13" name="Text 9"/>
          <p:cNvSpPr txBox="1"/>
          <p:nvPr/>
        </p:nvSpPr>
        <p:spPr>
          <a:xfrm>
            <a:off x="1115568" y="1874520"/>
            <a:ext cx="3593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000" b="1" dirty="0">
                <a:solidFill>
                  <a:srgbClr val="FFFFFF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对比案例设计（同一模型、相同输入/代码，仅定制资料与工具不同）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1115568" y="2258568"/>
            <a:ext cx="3593592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1400" dirty="0">
                <a:solidFill>
                  <a:srgbClr val="FFFFFF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① 正常步骤解释组：提供状态（left=0,right=4,mid=2,A[mid]=5,target=7）+《王道2027》P42知识卡 → 输出："因5&lt;7，排除0～2，left←3"；</a:t>
            </a:r>
            <a:endParaRPr lang="en-US" sz="1400" dirty="0"/>
          </a:p>
          <a:p>
            <a:pPr algn="l">
              <a:lnSpc>
                <a:spcPct val="125000"/>
              </a:lnSpc>
            </a:pPr>
            <a:r>
              <a:rPr lang="en-US" sz="1400" dirty="0">
                <a:solidFill>
                  <a:srgbClr val="FFFFFF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② 边界解释组：输入,target=7 → 提供空数组处理知识卡（P43）→ 输出："空区间无法计算mid，立即返回-1，不访问数组"；</a:t>
            </a:r>
            <a:endParaRPr lang="en-US" sz="1400" dirty="0"/>
          </a:p>
          <a:p>
            <a:pPr algn="l">
              <a:lnSpc>
                <a:spcPct val="125000"/>
              </a:lnSpc>
            </a:pPr>
            <a:r>
              <a:rPr lang="en-US" sz="1400" dirty="0">
                <a:solidFill>
                  <a:srgbClr val="FFFFFF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③ 纠正错误理解组：输入 → 提供"首次匹配非最左"实现约定卡（P44）→ 输出："本实现返回首个匹配mid=2，不保证最左位置，符合闭区间定义"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10479024" y="1874520"/>
            <a:ext cx="35935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500" b="1" dirty="0">
                <a:solidFill>
                  <a:srgbClr val="FFFFFF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核心限制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10479024" y="2167128"/>
            <a:ext cx="3593592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1300" dirty="0">
                <a:solidFill>
                  <a:srgbClr val="FFFFFF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• </a:t>
            </a:r>
            <a:r>
              <a:rPr lang="en-US" sz="1600" dirty="0">
                <a:solidFill>
                  <a:srgbClr val="FFFFFF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所有对比必须基于真实运行轨迹，禁止mock；</a:t>
            </a:r>
            <a:endParaRPr lang="en-US" sz="1600" dirty="0"/>
          </a:p>
          <a:p>
            <a:pPr algn="l">
              <a:lnSpc>
                <a:spcPct val="125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• 定制组额外资料须在中标记且pages精确；</a:t>
            </a:r>
            <a:endParaRPr lang="en-US" sz="1600" dirty="0"/>
          </a:p>
          <a:p>
            <a:pPr algn="l">
              <a:lnSpc>
                <a:spcPct val="125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• 基础组与定制组使用完全相同的模型API、提示工程框架与前端界面；</a:t>
            </a:r>
            <a:endParaRPr lang="en-US" sz="1600" dirty="0"/>
          </a:p>
          <a:p>
            <a:pPr algn="l">
              <a:lnSpc>
                <a:spcPct val="125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• 评估标准：两组均答对时，重点检查解释是否引用当前step状态（如是否提及A[mid]=5）及核验出处（是否显示P42而非模糊说"教材"）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7040880" y="2441448"/>
            <a:ext cx="1152144" cy="1152144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040880" y="2441448"/>
            <a:ext cx="1152144" cy="1152144"/>
          </a:xfrm>
          <a:prstGeom prst="ellipse">
            <a:avLst/>
          </a:prstGeom>
          <a:noFill/>
          <a:ln w="9525">
            <a:solidFill>
              <a:srgbClr val="808080">
                <a:alpha val="23137"/>
              </a:srgbClr>
            </a:solidFill>
            <a:prstDash val="solid"/>
            <a:headEnd type="none"/>
            <a:tailEnd type="none"/>
          </a:ln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23176" y="2523744"/>
            <a:ext cx="987552" cy="987552"/>
          </a:xfrm>
          <a:prstGeom prst="rect">
            <a:avLst/>
          </a:prstGeom>
        </p:spPr>
      </p:pic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07808" y="2871216"/>
            <a:ext cx="301752" cy="347472"/>
          </a:xfrm>
          <a:prstGeom prst="rect">
            <a:avLst/>
          </a:prstGeom>
        </p:spPr>
      </p:pic>
      <p:pic>
        <p:nvPicPr>
          <p:cNvPr id="2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33488" y="2871216"/>
            <a:ext cx="329184" cy="338328"/>
          </a:xfrm>
          <a:prstGeom prst="rect">
            <a:avLst/>
          </a:prstGeom>
        </p:spPr>
      </p:pic>
      <p:pic>
        <p:nvPicPr>
          <p:cNvPr id="2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7240" y="457200"/>
            <a:ext cx="612648" cy="85953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33513" r="33574"/>
          <a:stretch/>
        </p:blipFill>
        <p:spPr>
          <a:xfrm>
            <a:off x="0" y="0"/>
            <a:ext cx="5020056" cy="8577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10912" y="2331720"/>
            <a:ext cx="10222992" cy="3895344"/>
          </a:xfrm>
          <a:prstGeom prst="rect">
            <a:avLst/>
          </a:prstGeom>
          <a:solidFill>
            <a:srgbClr val="6DC947"/>
          </a:solidFill>
          <a:ln/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4" name="Shape 1"/>
          <p:cNvSpPr/>
          <p:nvPr/>
        </p:nvSpPr>
        <p:spPr>
          <a:xfrm>
            <a:off x="3730752" y="3145536"/>
            <a:ext cx="2286000" cy="2286000"/>
          </a:xfrm>
          <a:prstGeom prst="rect">
            <a:avLst/>
          </a:prstGeom>
          <a:solidFill>
            <a:srgbClr val="389E0D"/>
          </a:solidFill>
          <a:ln/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3776472" y="3182112"/>
            <a:ext cx="2185416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0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08</a:t>
            </a:r>
            <a:endParaRPr lang="en-US" sz="8000" dirty="0"/>
          </a:p>
        </p:txBody>
      </p:sp>
      <p:sp>
        <p:nvSpPr>
          <p:cNvPr id="6" name="Text 3"/>
          <p:cNvSpPr txBox="1"/>
          <p:nvPr/>
        </p:nvSpPr>
        <p:spPr>
          <a:xfrm>
            <a:off x="6336792" y="3255264"/>
            <a:ext cx="834847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6000" b="1" dirty="0">
                <a:solidFill>
                  <a:srgbClr val="FFFFFF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软件架构、原型与关键设计</a:t>
            </a:r>
            <a:endParaRPr lang="en-US" sz="6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 txBox="1"/>
          <p:nvPr/>
        </p:nvSpPr>
        <p:spPr>
          <a:xfrm>
            <a:off x="1005425" y="45720"/>
            <a:ext cx="130484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3600" b="1" dirty="0" err="1">
                <a:solidFill>
                  <a:srgbClr val="1B2022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软件架构原型与关键设计</a:t>
            </a:r>
            <a:endParaRPr lang="en-US" sz="3600" dirty="0"/>
          </a:p>
        </p:txBody>
      </p:sp>
      <p:sp>
        <p:nvSpPr>
          <p:cNvPr id="23" name="Text 13"/>
          <p:cNvSpPr txBox="1"/>
          <p:nvPr/>
        </p:nvSpPr>
        <p:spPr>
          <a:xfrm>
            <a:off x="3438144" y="2971800"/>
            <a:ext cx="4206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en-US" sz="20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01</a:t>
            </a:r>
            <a:endParaRPr lang="en-US" sz="2000" dirty="0"/>
          </a:p>
        </p:txBody>
      </p:sp>
      <p:sp>
        <p:nvSpPr>
          <p:cNvPr id="24" name="Text 14"/>
          <p:cNvSpPr txBox="1"/>
          <p:nvPr/>
        </p:nvSpPr>
        <p:spPr>
          <a:xfrm>
            <a:off x="3438144" y="4800600"/>
            <a:ext cx="4206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</a:pPr>
            <a:endParaRPr lang="en-US" sz="2000" dirty="0"/>
          </a:p>
        </p:txBody>
      </p:sp>
      <p:sp>
        <p:nvSpPr>
          <p:cNvPr id="25" name="Text 15"/>
          <p:cNvSpPr txBox="1"/>
          <p:nvPr/>
        </p:nvSpPr>
        <p:spPr>
          <a:xfrm>
            <a:off x="3438144" y="6711696"/>
            <a:ext cx="4206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</a:pPr>
            <a:endParaRPr lang="en-US" sz="200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3830" y="59436"/>
            <a:ext cx="612648" cy="859536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2E99F7ED-973C-91A8-A7D7-4F444D5849B2}"/>
              </a:ext>
            </a:extLst>
          </p:cNvPr>
          <p:cNvSpPr/>
          <p:nvPr/>
        </p:nvSpPr>
        <p:spPr>
          <a:xfrm>
            <a:off x="86097" y="996696"/>
            <a:ext cx="7545341" cy="7534847"/>
          </a:xfrm>
          <a:prstGeom prst="rect">
            <a:avLst/>
          </a:prstGeom>
          <a:solidFill>
            <a:srgbClr val="389E0D">
              <a:alpha val="14902"/>
            </a:srgbClr>
          </a:solidFill>
          <a:ln/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8AAF628-0C40-6B37-C9E5-BA9C77366C1E}"/>
              </a:ext>
            </a:extLst>
          </p:cNvPr>
          <p:cNvSpPr txBox="1"/>
          <p:nvPr/>
        </p:nvSpPr>
        <p:spPr>
          <a:xfrm>
            <a:off x="610154" y="1131570"/>
            <a:ext cx="4636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5000"/>
              </a:lnSpc>
            </a:pPr>
            <a:endParaRPr lang="en-US" sz="20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4E2AA9E-2819-83D1-C183-A51C2982626A}"/>
              </a:ext>
            </a:extLst>
          </p:cNvPr>
          <p:cNvSpPr txBox="1"/>
          <p:nvPr/>
        </p:nvSpPr>
        <p:spPr>
          <a:xfrm>
            <a:off x="610154" y="1168146"/>
            <a:ext cx="646668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5000"/>
              </a:lnSpc>
            </a:pPr>
            <a:r>
              <a:rPr lang="zh-CN" altLang="en-US" sz="18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课程目录：</a:t>
            </a:r>
            <a:r>
              <a:rPr lang="zh-CN" altLang="en-US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管理数据结构课程，组织知识点与实验内容</a:t>
            </a:r>
            <a:endParaRPr lang="en-US" sz="18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9C98110-CC61-4E10-15B1-7412BE64D4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292" y="1533906"/>
            <a:ext cx="7190625" cy="684980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8FC72F60-5C9A-15ED-B1C3-14F54650F3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2917" y="834672"/>
            <a:ext cx="7754784" cy="7742591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E858F4D6-EE9D-371B-E302-39B148833514}"/>
              </a:ext>
            </a:extLst>
          </p:cNvPr>
          <p:cNvSpPr txBox="1"/>
          <p:nvPr/>
        </p:nvSpPr>
        <p:spPr>
          <a:xfrm>
            <a:off x="7800779" y="1131570"/>
            <a:ext cx="7717946" cy="41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算法工作台：在线运行调试代码，可视化算法执行步骤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46EFC5DB-E608-F7D5-0660-4780A1F274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7911" y="1533907"/>
            <a:ext cx="7300347" cy="684980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Group">
          <a:extLst>
            <a:ext uri="{FF2B5EF4-FFF2-40B4-BE49-F238E27FC236}">
              <a16:creationId xmlns:a16="http://schemas.microsoft.com/office/drawing/2014/main" id="{049C3115-913F-41D0-2130-4EE0E1934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2FBF9F34-67D5-7EFE-96BF-7AB4000D66A4}"/>
              </a:ext>
            </a:extLst>
          </p:cNvPr>
          <p:cNvSpPr txBox="1"/>
          <p:nvPr/>
        </p:nvSpPr>
        <p:spPr>
          <a:xfrm>
            <a:off x="1005425" y="45720"/>
            <a:ext cx="130484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1B2022"/>
                </a:solidFill>
                <a:effectLst/>
                <a:uLnTx/>
                <a:uFillTx/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软件架构原型与关键设计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DABB92B4-66C8-0632-A3C6-E11EACA2DF12}"/>
              </a:ext>
            </a:extLst>
          </p:cNvPr>
          <p:cNvSpPr txBox="1"/>
          <p:nvPr/>
        </p:nvSpPr>
        <p:spPr>
          <a:xfrm>
            <a:off x="3438144" y="2971800"/>
            <a:ext cx="4206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rlow" pitchFamily="34" charset="0"/>
                <a:ea typeface="Barlow" pitchFamily="34" charset="-122"/>
                <a:cs typeface="Barlow" pitchFamily="34" charset="-120"/>
              </a:rPr>
              <a:t>01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14">
            <a:extLst>
              <a:ext uri="{FF2B5EF4-FFF2-40B4-BE49-F238E27FC236}">
                <a16:creationId xmlns:a16="http://schemas.microsoft.com/office/drawing/2014/main" id="{C8907A9A-F02E-4D7F-BE1C-9B8D6755813B}"/>
              </a:ext>
            </a:extLst>
          </p:cNvPr>
          <p:cNvSpPr txBox="1"/>
          <p:nvPr/>
        </p:nvSpPr>
        <p:spPr>
          <a:xfrm>
            <a:off x="3438144" y="4800600"/>
            <a:ext cx="4206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27F0F06C-2ED0-FE28-1BEA-CC812521CF04}"/>
              </a:ext>
            </a:extLst>
          </p:cNvPr>
          <p:cNvSpPr txBox="1"/>
          <p:nvPr/>
        </p:nvSpPr>
        <p:spPr>
          <a:xfrm>
            <a:off x="3438144" y="6711696"/>
            <a:ext cx="4206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6" name="Image 8" descr="preencoded.png">
            <a:extLst>
              <a:ext uri="{FF2B5EF4-FFF2-40B4-BE49-F238E27FC236}">
                <a16:creationId xmlns:a16="http://schemas.microsoft.com/office/drawing/2014/main" id="{4DDC2F5B-0CE8-9CFE-5F8C-0B9734692D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3830" y="59436"/>
            <a:ext cx="612648" cy="859536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B5CB8D88-E2E5-6508-95D5-628B70084525}"/>
              </a:ext>
            </a:extLst>
          </p:cNvPr>
          <p:cNvSpPr/>
          <p:nvPr/>
        </p:nvSpPr>
        <p:spPr>
          <a:xfrm>
            <a:off x="86097" y="996696"/>
            <a:ext cx="7545341" cy="7534847"/>
          </a:xfrm>
          <a:prstGeom prst="rect">
            <a:avLst/>
          </a:prstGeom>
          <a:solidFill>
            <a:srgbClr val="389E0D">
              <a:alpha val="14902"/>
            </a:srgbClr>
          </a:solidFill>
          <a:ln/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4590A3C-736C-22D1-DC9E-DF92250A3167}"/>
              </a:ext>
            </a:extLst>
          </p:cNvPr>
          <p:cNvSpPr txBox="1"/>
          <p:nvPr/>
        </p:nvSpPr>
        <p:spPr>
          <a:xfrm>
            <a:off x="610154" y="1131570"/>
            <a:ext cx="4636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A305E4FB-2BCC-C894-FD61-9C4C618D5E79}"/>
              </a:ext>
            </a:extLst>
          </p:cNvPr>
          <p:cNvSpPr txBox="1"/>
          <p:nvPr/>
        </p:nvSpPr>
        <p:spPr>
          <a:xfrm>
            <a:off x="625425" y="1181862"/>
            <a:ext cx="646668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zh-CN" dirty="0">
                <a:latin typeface="Source Han Sans CN Regular" panose="02010600030101010101" charset="-122"/>
                <a:ea typeface="Source Han Sans CN Regular" panose="02010600030101010101" charset="-122"/>
              </a:rPr>
              <a:t>知识与辅导：配套讲解资料，提供知识点答疑辅导服务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40BCA8E7-5C97-CFC3-7A83-EFAE59FEF7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2917" y="834672"/>
            <a:ext cx="7754784" cy="7742591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A944F4CA-DDC3-91A7-8A5C-6B80AF2E50F1}"/>
              </a:ext>
            </a:extLst>
          </p:cNvPr>
          <p:cNvSpPr txBox="1"/>
          <p:nvPr/>
        </p:nvSpPr>
        <p:spPr>
          <a:xfrm>
            <a:off x="7800779" y="1131570"/>
            <a:ext cx="77179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zh-CN" altLang="zh-CN" dirty="0">
                <a:latin typeface="SimSun-ExtG" panose="02010609060101010101" pitchFamily="49" charset="-122"/>
                <a:ea typeface="SimSun-ExtG" panose="02010609060101010101" pitchFamily="49" charset="-122"/>
              </a:rPr>
              <a:t>过程练习：分层习题训练，记录算法练习作答全过程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imSun-ExtG" panose="02010609060101010101" pitchFamily="49" charset="-122"/>
              <a:ea typeface="SimSun-ExtG" panose="02010609060101010101" pitchFamily="49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DAD45B2-DCE0-4C7B-D21C-5DF9ECE4AF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918" y="1519022"/>
            <a:ext cx="7443550" cy="686469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3C5CBCD-26DF-5393-A86B-9AB4DCA25C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00779" y="1519023"/>
            <a:ext cx="7356299" cy="6864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8199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Group">
          <a:extLst>
            <a:ext uri="{FF2B5EF4-FFF2-40B4-BE49-F238E27FC236}">
              <a16:creationId xmlns:a16="http://schemas.microsoft.com/office/drawing/2014/main" id="{4C83D700-5F00-2269-F61E-2D95B2E6D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45F50E2F-F476-B55E-2457-A00486539B31}"/>
              </a:ext>
            </a:extLst>
          </p:cNvPr>
          <p:cNvSpPr txBox="1"/>
          <p:nvPr/>
        </p:nvSpPr>
        <p:spPr>
          <a:xfrm>
            <a:off x="1005425" y="45720"/>
            <a:ext cx="130484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1B2022"/>
                </a:solidFill>
                <a:effectLst/>
                <a:uLnTx/>
                <a:uFillTx/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软件架构原型与关键设计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949AD878-FE0E-A33A-4527-772F4C883CC5}"/>
              </a:ext>
            </a:extLst>
          </p:cNvPr>
          <p:cNvSpPr txBox="1"/>
          <p:nvPr/>
        </p:nvSpPr>
        <p:spPr>
          <a:xfrm>
            <a:off x="3438144" y="2971800"/>
            <a:ext cx="4206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rlow" pitchFamily="34" charset="0"/>
                <a:ea typeface="Barlow" pitchFamily="34" charset="-122"/>
                <a:cs typeface="Barlow" pitchFamily="34" charset="-120"/>
              </a:rPr>
              <a:t>01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14">
            <a:extLst>
              <a:ext uri="{FF2B5EF4-FFF2-40B4-BE49-F238E27FC236}">
                <a16:creationId xmlns:a16="http://schemas.microsoft.com/office/drawing/2014/main" id="{7440342C-A95E-4A4C-3EF9-441DE8E9E3AD}"/>
              </a:ext>
            </a:extLst>
          </p:cNvPr>
          <p:cNvSpPr txBox="1"/>
          <p:nvPr/>
        </p:nvSpPr>
        <p:spPr>
          <a:xfrm>
            <a:off x="3438144" y="4800600"/>
            <a:ext cx="4206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A9EBE8C5-B275-CA71-468F-4772428879F3}"/>
              </a:ext>
            </a:extLst>
          </p:cNvPr>
          <p:cNvSpPr txBox="1"/>
          <p:nvPr/>
        </p:nvSpPr>
        <p:spPr>
          <a:xfrm>
            <a:off x="3438144" y="6711696"/>
            <a:ext cx="4206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6" name="Image 8" descr="preencoded.png">
            <a:extLst>
              <a:ext uri="{FF2B5EF4-FFF2-40B4-BE49-F238E27FC236}">
                <a16:creationId xmlns:a16="http://schemas.microsoft.com/office/drawing/2014/main" id="{5EA24494-5427-EC86-7DE8-7AE334C918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3830" y="59436"/>
            <a:ext cx="612648" cy="859536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D7E3EB26-A501-49B0-1069-D22974F8D628}"/>
              </a:ext>
            </a:extLst>
          </p:cNvPr>
          <p:cNvSpPr/>
          <p:nvPr/>
        </p:nvSpPr>
        <p:spPr>
          <a:xfrm>
            <a:off x="29479" y="918972"/>
            <a:ext cx="7545341" cy="7612571"/>
          </a:xfrm>
          <a:prstGeom prst="rect">
            <a:avLst/>
          </a:prstGeom>
          <a:solidFill>
            <a:srgbClr val="389E0D">
              <a:alpha val="14902"/>
            </a:srgbClr>
          </a:solidFill>
          <a:ln/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7A58904-7F50-489D-CA43-0EFEFA1F0145}"/>
              </a:ext>
            </a:extLst>
          </p:cNvPr>
          <p:cNvSpPr txBox="1"/>
          <p:nvPr/>
        </p:nvSpPr>
        <p:spPr>
          <a:xfrm>
            <a:off x="610154" y="1131570"/>
            <a:ext cx="4636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79B4342-A610-4DC7-86EE-86507203962D}"/>
              </a:ext>
            </a:extLst>
          </p:cNvPr>
          <p:cNvSpPr txBox="1"/>
          <p:nvPr/>
        </p:nvSpPr>
        <p:spPr>
          <a:xfrm>
            <a:off x="625425" y="1181862"/>
            <a:ext cx="646668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Han Sans CN Regular" panose="02010600030101010101" charset="-122"/>
                <a:ea typeface="Source Han Sans CN Regular" panose="02010600030101010101" charset="-122"/>
                <a:cs typeface="+mn-cs"/>
              </a:rPr>
              <a:t>错题与记录：汇总错题数据，留存学习轨迹便于复盘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Han Sans CN Regular" panose="02010600030101010101" charset="-122"/>
              <a:ea typeface="Source Han Sans CN Regular" panose="02010600030101010101" charset="-122"/>
              <a:cs typeface="+mn-cs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A2299A1-2BA3-D469-DDDD-E993C4BC62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286" y="1533906"/>
            <a:ext cx="7327725" cy="6896110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C79CFBBB-A25D-B124-BC41-0B45EE40A989}"/>
              </a:ext>
            </a:extLst>
          </p:cNvPr>
          <p:cNvSpPr txBox="1"/>
          <p:nvPr/>
        </p:nvSpPr>
        <p:spPr>
          <a:xfrm>
            <a:off x="7683628" y="1131570"/>
            <a:ext cx="553360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Source Han Sans CN Regular" panose="02010600030101010101" charset="-122"/>
                <a:ea typeface="Source Han Sans CN Regular" panose="02010600030101010101" charset="-122"/>
              </a:rPr>
              <a:t>关键设计：</a:t>
            </a:r>
            <a:endParaRPr lang="en-US" altLang="zh-CN" sz="1200" dirty="0">
              <a:latin typeface="Source Han Sans CN Regular" panose="02010600030101010101" charset="-122"/>
              <a:ea typeface="Source Han Sans CN Regular" panose="02010600030101010101" charset="-122"/>
            </a:endParaRPr>
          </a:p>
          <a:p>
            <a:r>
              <a:rPr lang="en-US" altLang="zh-CN" sz="1200" dirty="0">
                <a:latin typeface="Source Han Sans CN Regular" panose="02010600030101010101" charset="-122"/>
                <a:ea typeface="Source Han Sans CN Regular" panose="02010600030101010101" charset="-122"/>
              </a:rPr>
              <a:t>1.</a:t>
            </a:r>
            <a:r>
              <a:rPr lang="zh-CN" altLang="en-US" sz="1200" dirty="0">
                <a:latin typeface="Source Han Sans CN Regular" panose="02010600030101010101" charset="-122"/>
                <a:ea typeface="Source Han Sans CN Regular" panose="02010600030101010101" charset="-122"/>
              </a:rPr>
              <a:t>契约驱动通信</a:t>
            </a:r>
            <a:endParaRPr lang="en-US" altLang="zh-CN" sz="1200" dirty="0">
              <a:latin typeface="Source Han Sans CN Regular" panose="02010600030101010101" charset="-122"/>
              <a:ea typeface="Source Han Sans CN Regular" panose="02010600030101010101" charset="-122"/>
            </a:endParaRPr>
          </a:p>
          <a:p>
            <a:r>
              <a:rPr lang="zh-CN" altLang="en-US" sz="1200" dirty="0">
                <a:latin typeface="Source Han Sans CN Regular" panose="02010600030101010101" charset="-122"/>
                <a:ea typeface="Source Han Sans CN Regular" panose="02010600030101010101" charset="-122"/>
              </a:rPr>
              <a:t>模块间仅通过接口契约交互，禁止硬编码数组或共享状态，保证耦合最小化。</a:t>
            </a:r>
            <a:endParaRPr lang="en-US" altLang="zh-CN" sz="1200" dirty="0">
              <a:latin typeface="Source Han Sans CN Regular" panose="02010600030101010101" charset="-122"/>
              <a:ea typeface="Source Han Sans CN Regular" panose="02010600030101010101" charset="-122"/>
            </a:endParaRPr>
          </a:p>
          <a:p>
            <a:endParaRPr lang="zh-CN" altLang="en-US" sz="1200" dirty="0">
              <a:latin typeface="Source Han Sans CN Regular" panose="02010600030101010101" charset="-122"/>
              <a:ea typeface="Source Han Sans CN Regular" panose="02010600030101010101" charset="-122"/>
            </a:endParaRPr>
          </a:p>
          <a:p>
            <a:r>
              <a:rPr lang="en-US" altLang="zh-CN" sz="1200" dirty="0">
                <a:latin typeface="Source Han Sans CN Regular" panose="02010600030101010101" charset="-122"/>
                <a:ea typeface="Source Han Sans CN Regular" panose="02010600030101010101" charset="-122"/>
              </a:rPr>
              <a:t>2. </a:t>
            </a:r>
            <a:r>
              <a:rPr lang="zh-CN" altLang="en-US" sz="1200" dirty="0">
                <a:latin typeface="Source Han Sans CN Regular" panose="02010600030101010101" charset="-122"/>
                <a:ea typeface="Source Han Sans CN Regular" panose="02010600030101010101" charset="-122"/>
              </a:rPr>
              <a:t>数据与逻辑分离</a:t>
            </a:r>
          </a:p>
          <a:p>
            <a:r>
              <a:rPr lang="zh-CN" altLang="en-US" sz="1200" dirty="0">
                <a:latin typeface="Source Han Sans CN Regular" panose="02010600030101010101" charset="-122"/>
                <a:ea typeface="Source Han Sans CN Regular" panose="02010600030101010101" charset="-122"/>
              </a:rPr>
              <a:t>动画层仅读取数据数组渲染，不内置独立业务逻辑，实现配置驱动、零重复实现。</a:t>
            </a:r>
            <a:endParaRPr lang="en-US" altLang="zh-CN" sz="1200" dirty="0">
              <a:latin typeface="Source Han Sans CN Regular" panose="02010600030101010101" charset="-122"/>
              <a:ea typeface="Source Han Sans CN Regular" panose="02010600030101010101" charset="-122"/>
            </a:endParaRPr>
          </a:p>
          <a:p>
            <a:endParaRPr lang="zh-CN" altLang="en-US" sz="1200" dirty="0">
              <a:latin typeface="Source Han Sans CN Regular" panose="02010600030101010101" charset="-122"/>
              <a:ea typeface="Source Han Sans CN Regular" panose="02010600030101010101" charset="-122"/>
            </a:endParaRPr>
          </a:p>
          <a:p>
            <a:r>
              <a:rPr lang="en-US" altLang="zh-CN" sz="1200" dirty="0">
                <a:latin typeface="Source Han Sans CN Regular" panose="02010600030101010101" charset="-122"/>
                <a:ea typeface="Source Han Sans CN Regular" panose="02010600030101010101" charset="-122"/>
              </a:rPr>
              <a:t>3. </a:t>
            </a:r>
            <a:r>
              <a:rPr lang="zh-CN" altLang="en-US" sz="1200" dirty="0">
                <a:latin typeface="Source Han Sans CN Regular" panose="02010600030101010101" charset="-122"/>
                <a:ea typeface="Source Han Sans CN Regular" panose="02010600030101010101" charset="-122"/>
              </a:rPr>
              <a:t>响应字段强制校验</a:t>
            </a:r>
          </a:p>
          <a:p>
            <a:r>
              <a:rPr lang="en-US" altLang="zh-CN" sz="1200" dirty="0">
                <a:latin typeface="Source Han Sans CN Regular" panose="02010600030101010101" charset="-122"/>
                <a:ea typeface="Source Han Sans CN Regular" panose="02010600030101010101" charset="-122"/>
              </a:rPr>
              <a:t>Agent </a:t>
            </a:r>
            <a:r>
              <a:rPr lang="zh-CN" altLang="en-US" sz="1200" dirty="0">
                <a:latin typeface="Source Han Sans CN Regular" panose="02010600030101010101" charset="-122"/>
                <a:ea typeface="Source Han Sans CN Regular" panose="02010600030101010101" charset="-122"/>
              </a:rPr>
              <a:t>输出必须携带规范字段；字段缺失时前端不予渲染，从源头保证可追溯。</a:t>
            </a:r>
          </a:p>
          <a:p>
            <a:endParaRPr lang="en-US" altLang="zh-CN" sz="1200" dirty="0">
              <a:latin typeface="Source Han Sans CN Regular" panose="02010600030101010101" charset="-122"/>
              <a:ea typeface="Source Han Sans CN Regular" panose="02010600030101010101" charset="-122"/>
            </a:endParaRPr>
          </a:p>
          <a:p>
            <a:endParaRPr lang="zh-CN" altLang="en-US" dirty="0"/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F3DA17C6-09F0-4E87-D215-5254DDE246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4958" y="764088"/>
            <a:ext cx="7792415" cy="7813175"/>
          </a:xfrm>
          <a:prstGeom prst="rect">
            <a:avLst/>
          </a:prstGeom>
        </p:spPr>
      </p:pic>
      <p:pic>
        <p:nvPicPr>
          <p:cNvPr id="38" name="图形 37">
            <a:extLst>
              <a:ext uri="{FF2B5EF4-FFF2-40B4-BE49-F238E27FC236}">
                <a16:creationId xmlns:a16="http://schemas.microsoft.com/office/drawing/2014/main" id="{3E58024F-8C65-4A52-06B6-F094EFAFD3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83627" y="2971800"/>
            <a:ext cx="7530069" cy="545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8808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33513" r="33574"/>
          <a:stretch/>
        </p:blipFill>
        <p:spPr>
          <a:xfrm>
            <a:off x="0" y="0"/>
            <a:ext cx="5020056" cy="8577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10912" y="2331720"/>
            <a:ext cx="10222992" cy="3895344"/>
          </a:xfrm>
          <a:prstGeom prst="rect">
            <a:avLst/>
          </a:prstGeom>
          <a:solidFill>
            <a:srgbClr val="6DC947"/>
          </a:solidFill>
          <a:ln/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4" name="Shape 1"/>
          <p:cNvSpPr/>
          <p:nvPr/>
        </p:nvSpPr>
        <p:spPr>
          <a:xfrm>
            <a:off x="3730752" y="3145536"/>
            <a:ext cx="2286000" cy="2286000"/>
          </a:xfrm>
          <a:prstGeom prst="rect">
            <a:avLst/>
          </a:prstGeom>
          <a:solidFill>
            <a:srgbClr val="389E0D"/>
          </a:solidFill>
          <a:ln/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3776472" y="3182112"/>
            <a:ext cx="2185416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0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09</a:t>
            </a:r>
            <a:endParaRPr lang="en-US" sz="8000" dirty="0"/>
          </a:p>
        </p:txBody>
      </p:sp>
      <p:sp>
        <p:nvSpPr>
          <p:cNvPr id="6" name="Text 3"/>
          <p:cNvSpPr txBox="1"/>
          <p:nvPr/>
        </p:nvSpPr>
        <p:spPr>
          <a:xfrm>
            <a:off x="6336792" y="3255264"/>
            <a:ext cx="834847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6000" b="1" dirty="0">
                <a:solidFill>
                  <a:srgbClr val="FFFFFF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十人分工与协作方式</a:t>
            </a:r>
            <a:endParaRPr lang="en-US" sz="6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389888" y="475488"/>
            <a:ext cx="1283817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3600" b="1" dirty="0">
                <a:solidFill>
                  <a:srgbClr val="1B2022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十人分工与协作方式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065318" y="1499616"/>
            <a:ext cx="1408176" cy="1408176"/>
          </a:xfrm>
          <a:prstGeom prst="ellipse">
            <a:avLst/>
          </a:prstGeom>
          <a:solidFill>
            <a:srgbClr val="389E0D">
              <a:alpha val="14902"/>
            </a:srgbClr>
          </a:solidFill>
          <a:ln/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175046" y="1609344"/>
            <a:ext cx="1188720" cy="1188720"/>
          </a:xfrm>
          <a:prstGeom prst="ellipse">
            <a:avLst/>
          </a:prstGeom>
          <a:solidFill>
            <a:srgbClr val="389E0D"/>
          </a:solidFill>
          <a:ln/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39" y="4052040"/>
            <a:ext cx="6548351" cy="3346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zh-CN" altLang="en-US" sz="16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成员</a:t>
            </a:r>
            <a:r>
              <a:rPr lang="en-US" sz="16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01：</a:t>
            </a:r>
            <a:r>
              <a:rPr lang="zh-CN" altLang="en-US" sz="16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固定接口与状态格式；管理登记、分工和 </a:t>
            </a:r>
            <a:r>
              <a:rPr lang="en-US" altLang="zh-CN" sz="16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PR</a:t>
            </a:r>
            <a:r>
              <a:rPr lang="zh-CN" altLang="en-US" sz="16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；整合运行；完成启动说明和验收清单</a:t>
            </a:r>
            <a:endParaRPr lang="en-US" altLang="zh-CN" sz="1600" dirty="0">
              <a:solidFill>
                <a:srgbClr val="4D5B61"/>
              </a:solidFill>
              <a:latin typeface="Source Han Sans CN Regular" pitchFamily="34" charset="0"/>
              <a:ea typeface="Source Han Sans CN Regular" pitchFamily="34" charset="-122"/>
              <a:cs typeface="Source Han Sans CN Regular" pitchFamily="34" charset="-120"/>
            </a:endParaRPr>
          </a:p>
          <a:p>
            <a:endParaRPr lang="en-US" altLang="zh-CN" sz="1600" dirty="0">
              <a:solidFill>
                <a:srgbClr val="4D5B61"/>
              </a:solidFill>
              <a:latin typeface="Source Han Sans CN Regular" pitchFamily="34" charset="0"/>
              <a:ea typeface="Source Han Sans CN Regular" pitchFamily="34" charset="-122"/>
              <a:cs typeface="Source Han Sans CN Regular" pitchFamily="34" charset="-120"/>
            </a:endParaRPr>
          </a:p>
          <a:p>
            <a:r>
              <a:rPr lang="zh-CN" altLang="en-US" sz="16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成员</a:t>
            </a:r>
            <a:r>
              <a:rPr lang="en-US" sz="16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02：</a:t>
            </a:r>
            <a:r>
              <a:rPr lang="zh-CN" altLang="en-US" sz="16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实现数组</a:t>
            </a:r>
            <a:r>
              <a:rPr lang="en-US" altLang="zh-CN" sz="16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/</a:t>
            </a:r>
            <a:r>
              <a:rPr lang="zh-CN" altLang="en-US" sz="16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目标输入、校验提示、代码高亮、变量面板、错误</a:t>
            </a:r>
            <a:r>
              <a:rPr lang="en-US" altLang="zh-CN" sz="16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/</a:t>
            </a:r>
            <a:r>
              <a:rPr lang="zh-CN" altLang="en-US" sz="16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加载显示；连接动画与聊天区域</a:t>
            </a:r>
            <a:endParaRPr lang="en-US" altLang="zh-CN" sz="1600" dirty="0">
              <a:solidFill>
                <a:srgbClr val="4D5B61"/>
              </a:solidFill>
              <a:latin typeface="Source Han Sans CN Regular" pitchFamily="34" charset="0"/>
              <a:ea typeface="Source Han Sans CN Regular" pitchFamily="34" charset="-122"/>
              <a:cs typeface="Source Han Sans CN Regular" pitchFamily="34" charset="-120"/>
            </a:endParaRPr>
          </a:p>
          <a:p>
            <a:endParaRPr lang="en-US" sz="1600" dirty="0"/>
          </a:p>
          <a:p>
            <a:pPr>
              <a:lnSpc>
                <a:spcPct val="125000"/>
              </a:lnSpc>
            </a:pPr>
            <a:r>
              <a:rPr lang="zh-CN" altLang="en-US" sz="16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成员</a:t>
            </a:r>
            <a:r>
              <a:rPr lang="en-US" sz="16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03：</a:t>
            </a:r>
            <a:r>
              <a:rPr lang="zh-CN" altLang="en-US" sz="16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实现数组格子、左右边界</a:t>
            </a:r>
            <a:r>
              <a:rPr lang="en-US" altLang="zh-CN" sz="16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/</a:t>
            </a:r>
            <a:r>
              <a:rPr lang="zh-CN" altLang="en-US" sz="16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中点</a:t>
            </a:r>
            <a:r>
              <a:rPr lang="en-US" altLang="zh-CN" sz="16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/</a:t>
            </a:r>
            <a:r>
              <a:rPr lang="zh-CN" altLang="en-US" sz="16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区间动画；开始暂停、前进回看、速度和重置；发布当前步骤</a:t>
            </a:r>
            <a:endParaRPr lang="en-US" altLang="zh-CN" sz="1600" dirty="0">
              <a:solidFill>
                <a:srgbClr val="4D5B61"/>
              </a:solidFill>
              <a:latin typeface="Source Han Sans CN Regular" pitchFamily="34" charset="0"/>
              <a:ea typeface="Source Han Sans CN Regular" pitchFamily="34" charset="-122"/>
              <a:cs typeface="Source Han Sans CN Regular" pitchFamily="34" charset="-120"/>
            </a:endParaRPr>
          </a:p>
          <a:p>
            <a:pPr>
              <a:lnSpc>
                <a:spcPct val="125000"/>
              </a:lnSpc>
            </a:pPr>
            <a:endParaRPr lang="en-US" altLang="zh-CN" sz="1600" dirty="0">
              <a:solidFill>
                <a:srgbClr val="4D5B61"/>
              </a:solidFill>
              <a:latin typeface="Source Han Sans CN Regular" pitchFamily="34" charset="0"/>
              <a:ea typeface="Source Han Sans CN Regular" pitchFamily="34" charset="-122"/>
              <a:cs typeface="Source Han Sans CN Regular" pitchFamily="34" charset="-120"/>
            </a:endParaRPr>
          </a:p>
          <a:p>
            <a:pPr>
              <a:lnSpc>
                <a:spcPct val="125000"/>
              </a:lnSpc>
            </a:pPr>
            <a:r>
              <a:rPr lang="zh-CN" altLang="en-US" sz="16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成员</a:t>
            </a:r>
            <a:r>
              <a:rPr lang="en-US" sz="16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04：</a:t>
            </a:r>
            <a:r>
              <a:rPr lang="zh-CN" altLang="en-US" sz="16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实现二分查找轨迹；</a:t>
            </a:r>
            <a:r>
              <a:rPr lang="en-US" altLang="zh-CN" sz="16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C/C++ </a:t>
            </a:r>
            <a:r>
              <a:rPr lang="zh-CN" altLang="en-US" sz="16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展示代码行映射；创建运行、查状态、题目读取</a:t>
            </a:r>
            <a:r>
              <a:rPr lang="en-US" altLang="zh-CN" sz="16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/</a:t>
            </a:r>
            <a:r>
              <a:rPr lang="zh-CN" altLang="en-US" sz="16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判分接口；边界处理</a:t>
            </a:r>
            <a:endParaRPr lang="en-US" altLang="zh-CN" sz="1600" dirty="0">
              <a:solidFill>
                <a:srgbClr val="4D5B61"/>
              </a:solidFill>
              <a:latin typeface="Source Han Sans CN Regular" pitchFamily="34" charset="0"/>
              <a:ea typeface="Source Han Sans CN Regular" pitchFamily="34" charset="-122"/>
              <a:cs typeface="Source Han Sans CN Regular" pitchFamily="34" charset="-120"/>
            </a:endParaRPr>
          </a:p>
          <a:p>
            <a:pPr>
              <a:lnSpc>
                <a:spcPct val="125000"/>
              </a:lnSpc>
            </a:pPr>
            <a:endParaRPr lang="en-US" sz="1600" dirty="0"/>
          </a:p>
          <a:p>
            <a:pPr>
              <a:lnSpc>
                <a:spcPct val="125000"/>
              </a:lnSpc>
            </a:pPr>
            <a:r>
              <a:rPr lang="zh-CN" altLang="en-US" sz="16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成员</a:t>
            </a:r>
            <a:r>
              <a:rPr lang="en-US" sz="16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05：</a:t>
            </a:r>
            <a:r>
              <a:rPr lang="zh-CN" altLang="en-US" sz="16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实现 </a:t>
            </a:r>
            <a:r>
              <a:rPr lang="en-US" altLang="zh-CN" sz="16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DeepSeek </a:t>
            </a:r>
            <a:r>
              <a:rPr lang="zh-CN" altLang="en-US" sz="16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适配、状态查询</a:t>
            </a:r>
            <a:r>
              <a:rPr lang="en-US" altLang="zh-CN" sz="16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/</a:t>
            </a:r>
            <a:r>
              <a:rPr lang="zh-CN" altLang="en-US" sz="16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知识检索工具、当前步骤解释、三级提示、聊天界面、调用用量记录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673352" y="3009624"/>
            <a:ext cx="4228684" cy="629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5000"/>
              </a:lnSpc>
            </a:pPr>
            <a:r>
              <a:rPr lang="en-US" sz="1800" b="1" dirty="0">
                <a:solidFill>
                  <a:srgbClr val="1B2022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成员职责（01-05号）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302752" y="3805315"/>
            <a:ext cx="6649766" cy="400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zh-CN" altLang="en-US" sz="16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成员</a:t>
            </a:r>
            <a:r>
              <a:rPr lang="en-US" sz="16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06：</a:t>
            </a:r>
            <a:r>
              <a:rPr lang="zh-CN" altLang="en-US" sz="16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核验并整理二分查找知识卡与出处；编写不少于 </a:t>
            </a:r>
            <a:r>
              <a:rPr lang="en-US" altLang="zh-CN" sz="16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5 </a:t>
            </a:r>
            <a:r>
              <a:rPr lang="zh-CN" altLang="en-US" sz="16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道过程题及答案</a:t>
            </a:r>
            <a:r>
              <a:rPr lang="en-US" altLang="zh-CN" sz="16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/</a:t>
            </a:r>
            <a:r>
              <a:rPr lang="zh-CN" altLang="en-US" sz="16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提示；协助完整覆盖表</a:t>
            </a:r>
            <a:endParaRPr lang="en-US" altLang="zh-CN" sz="1600" dirty="0">
              <a:solidFill>
                <a:srgbClr val="4D5B61"/>
              </a:solidFill>
              <a:latin typeface="Source Han Sans CN Regular" pitchFamily="34" charset="0"/>
              <a:ea typeface="Source Han Sans CN Regular" pitchFamily="34" charset="-122"/>
              <a:cs typeface="Source Han Sans CN Regular" pitchFamily="34" charset="-120"/>
            </a:endParaRPr>
          </a:p>
          <a:p>
            <a:pPr>
              <a:lnSpc>
                <a:spcPct val="125000"/>
              </a:lnSpc>
            </a:pPr>
            <a:endParaRPr lang="en-US" altLang="zh-CN" sz="1600" dirty="0">
              <a:solidFill>
                <a:srgbClr val="4D5B61"/>
              </a:solidFill>
              <a:latin typeface="Source Han Sans CN Regular" pitchFamily="34" charset="0"/>
              <a:ea typeface="Source Han Sans CN Regular" pitchFamily="34" charset="-122"/>
              <a:cs typeface="Source Han Sans CN Regular" pitchFamily="34" charset="-120"/>
            </a:endParaRPr>
          </a:p>
          <a:p>
            <a:pPr>
              <a:lnSpc>
                <a:spcPct val="125000"/>
              </a:lnSpc>
            </a:pPr>
            <a:r>
              <a:rPr lang="zh-CN" altLang="en-US" sz="16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成员</a:t>
            </a:r>
            <a:r>
              <a:rPr lang="en-US" sz="16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07：</a:t>
            </a:r>
            <a:r>
              <a:rPr lang="zh-CN" altLang="en-US" sz="16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组织约 </a:t>
            </a:r>
            <a:r>
              <a:rPr lang="en-US" altLang="zh-CN" sz="16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5 </a:t>
            </a:r>
            <a:r>
              <a:rPr lang="zh-CN" altLang="en-US" sz="16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人真实访谈及试用；实现题目呈现、作答反馈、逐级提示、本机错题与进度记录</a:t>
            </a:r>
            <a:endParaRPr lang="en-US" altLang="zh-CN" sz="1600" dirty="0">
              <a:solidFill>
                <a:srgbClr val="4D5B61"/>
              </a:solidFill>
              <a:latin typeface="Source Han Sans CN Regular" pitchFamily="34" charset="0"/>
              <a:ea typeface="Source Han Sans CN Regular" pitchFamily="34" charset="-122"/>
              <a:cs typeface="Source Han Sans CN Regular" pitchFamily="34" charset="-120"/>
            </a:endParaRPr>
          </a:p>
          <a:p>
            <a:pPr>
              <a:lnSpc>
                <a:spcPct val="125000"/>
              </a:lnSpc>
            </a:pPr>
            <a:endParaRPr lang="en-US" altLang="zh-CN" sz="1600" dirty="0">
              <a:solidFill>
                <a:srgbClr val="4D5B61"/>
              </a:solidFill>
              <a:latin typeface="Source Han Sans CN Regular" pitchFamily="34" charset="0"/>
              <a:ea typeface="Source Han Sans CN Regular" pitchFamily="34" charset="-122"/>
              <a:cs typeface="Source Han Sans CN Regular" pitchFamily="34" charset="-120"/>
            </a:endParaRPr>
          </a:p>
          <a:p>
            <a:pPr>
              <a:lnSpc>
                <a:spcPct val="125000"/>
              </a:lnSpc>
            </a:pPr>
            <a:r>
              <a:rPr lang="zh-CN" altLang="en-US" sz="16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成员</a:t>
            </a:r>
            <a:r>
              <a:rPr lang="en-US" sz="16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08：</a:t>
            </a:r>
            <a:r>
              <a:rPr lang="zh-CN" altLang="en-US" sz="16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制作独立预期轨迹与边界测试；检查联动和模型失败；完成三个真实前后对比及证据整理</a:t>
            </a:r>
            <a:endParaRPr lang="en-US" altLang="zh-CN" sz="1600" dirty="0">
              <a:solidFill>
                <a:srgbClr val="4D5B61"/>
              </a:solidFill>
              <a:latin typeface="Source Han Sans CN Regular" pitchFamily="34" charset="0"/>
              <a:ea typeface="Source Han Sans CN Regular" pitchFamily="34" charset="-122"/>
              <a:cs typeface="Source Han Sans CN Regular" pitchFamily="34" charset="-120"/>
            </a:endParaRPr>
          </a:p>
          <a:p>
            <a:pPr>
              <a:lnSpc>
                <a:spcPct val="125000"/>
              </a:lnSpc>
            </a:pPr>
            <a:endParaRPr lang="en-US" altLang="zh-CN" sz="1600" dirty="0">
              <a:solidFill>
                <a:srgbClr val="4D5B61"/>
              </a:solidFill>
              <a:latin typeface="Source Han Sans CN Regular" pitchFamily="34" charset="0"/>
              <a:ea typeface="Source Han Sans CN Regular" pitchFamily="34" charset="-122"/>
              <a:cs typeface="Source Han Sans CN Regular" pitchFamily="34" charset="-120"/>
            </a:endParaRPr>
          </a:p>
          <a:p>
            <a:pPr>
              <a:lnSpc>
                <a:spcPct val="125000"/>
              </a:lnSpc>
            </a:pPr>
            <a:r>
              <a:rPr lang="zh-CN" altLang="en-US" sz="16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成员</a:t>
            </a:r>
            <a:r>
              <a:rPr lang="en-US" sz="16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09：</a:t>
            </a:r>
            <a:r>
              <a:rPr lang="zh-CN" altLang="en-US" sz="16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完成正式版界面原型、项目标志、思维导图、类图及需求文档；逐项拆分 </a:t>
            </a:r>
            <a:r>
              <a:rPr lang="en-US" altLang="zh-CN" sz="16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408 </a:t>
            </a:r>
            <a:r>
              <a:rPr lang="zh-CN" altLang="en-US" sz="16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覆盖与动画清单</a:t>
            </a:r>
            <a:endParaRPr lang="en-US" altLang="zh-CN" sz="1600" dirty="0">
              <a:solidFill>
                <a:srgbClr val="4D5B61"/>
              </a:solidFill>
              <a:latin typeface="Source Han Sans CN Regular" pitchFamily="34" charset="0"/>
              <a:ea typeface="Source Han Sans CN Regular" pitchFamily="34" charset="-122"/>
              <a:cs typeface="Source Han Sans CN Regular" pitchFamily="34" charset="-120"/>
            </a:endParaRPr>
          </a:p>
          <a:p>
            <a:pPr>
              <a:lnSpc>
                <a:spcPct val="125000"/>
              </a:lnSpc>
            </a:pPr>
            <a:endParaRPr lang="en-US" sz="1600" dirty="0"/>
          </a:p>
          <a:p>
            <a:pPr>
              <a:lnSpc>
                <a:spcPct val="125000"/>
              </a:lnSpc>
            </a:pPr>
            <a:r>
              <a:rPr lang="zh-CN" altLang="en-US" sz="16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成员</a:t>
            </a:r>
            <a:r>
              <a:rPr lang="en-US" sz="16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10：</a:t>
            </a:r>
            <a:r>
              <a:rPr lang="zh-CN" altLang="en-US" sz="16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收集真实团队资料与合照；完成团队博客、</a:t>
            </a:r>
            <a:r>
              <a:rPr lang="en-US" altLang="zh-CN" sz="16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PPT</a:t>
            </a:r>
            <a:r>
              <a:rPr lang="zh-CN" altLang="en-US" sz="16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、演示脚本、录屏与六分钟问答准备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03747" y="306183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5000"/>
              </a:lnSpc>
            </a:pPr>
            <a:r>
              <a:rPr lang="en-US" sz="1800" b="1" dirty="0">
                <a:solidFill>
                  <a:srgbClr val="1B2022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成员职责（06-10号）</a:t>
            </a:r>
            <a:endParaRPr lang="en-US" sz="18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63666" y="1947672"/>
            <a:ext cx="411480" cy="411480"/>
          </a:xfrm>
          <a:prstGeom prst="rect">
            <a:avLst/>
          </a:prstGeom>
        </p:spPr>
      </p:pic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25912" y="3227832"/>
            <a:ext cx="411480" cy="411480"/>
          </a:xfrm>
          <a:prstGeom prst="rect">
            <a:avLst/>
          </a:prstGeom>
        </p:spPr>
      </p:pic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7240" y="466344"/>
            <a:ext cx="612648" cy="859536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99E19CD1-B707-E5FC-7DCD-900B296C96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24859" y="1352497"/>
            <a:ext cx="1615580" cy="161558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1FD25B87-BD37-F65A-122B-4620F39D44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34596" y="1478219"/>
            <a:ext cx="1396105" cy="1396105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3DA0CA0D-8079-94C3-81A6-2256A12F5F8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28414" y="1997600"/>
            <a:ext cx="408467" cy="40846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33513" r="33574"/>
          <a:stretch/>
        </p:blipFill>
        <p:spPr>
          <a:xfrm>
            <a:off x="0" y="0"/>
            <a:ext cx="5020056" cy="8577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10912" y="2331720"/>
            <a:ext cx="10222992" cy="3895344"/>
          </a:xfrm>
          <a:prstGeom prst="rect">
            <a:avLst/>
          </a:prstGeom>
          <a:solidFill>
            <a:srgbClr val="6DC947"/>
          </a:solidFill>
          <a:ln/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4" name="Shape 1"/>
          <p:cNvSpPr/>
          <p:nvPr/>
        </p:nvSpPr>
        <p:spPr>
          <a:xfrm>
            <a:off x="3730752" y="3145536"/>
            <a:ext cx="2286000" cy="2286000"/>
          </a:xfrm>
          <a:prstGeom prst="rect">
            <a:avLst/>
          </a:prstGeom>
          <a:solidFill>
            <a:srgbClr val="389E0D"/>
          </a:solidFill>
          <a:ln/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3776472" y="3182112"/>
            <a:ext cx="2185416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0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10</a:t>
            </a:r>
            <a:endParaRPr lang="en-US" sz="8000" dirty="0"/>
          </a:p>
        </p:txBody>
      </p:sp>
      <p:sp>
        <p:nvSpPr>
          <p:cNvPr id="6" name="Text 3"/>
          <p:cNvSpPr txBox="1"/>
          <p:nvPr/>
        </p:nvSpPr>
        <p:spPr>
          <a:xfrm>
            <a:off x="6336792" y="3255264"/>
            <a:ext cx="834847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zh-CN" altLang="en-US" sz="6000" b="1" dirty="0">
                <a:solidFill>
                  <a:srgbClr val="FFFFFF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本次成果</a:t>
            </a:r>
            <a:r>
              <a:rPr lang="en-US" sz="6000" b="1" dirty="0">
                <a:solidFill>
                  <a:srgbClr val="FFFFFF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、正式范围与下一步</a:t>
            </a:r>
            <a:endParaRPr lang="en-US" sz="6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0392" y="1847088"/>
            <a:ext cx="6766560" cy="279806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09744" y="1847088"/>
            <a:ext cx="2798064" cy="279806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09744" y="4809744"/>
            <a:ext cx="2798064" cy="279806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63256" y="4809744"/>
            <a:ext cx="2798064" cy="2798064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63256" y="1847088"/>
            <a:ext cx="6766560" cy="2798064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63256" y="1847088"/>
            <a:ext cx="2798064" cy="2798064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63256" y="4809744"/>
            <a:ext cx="6766560" cy="2798064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59536" y="4809744"/>
            <a:ext cx="6766560" cy="2798064"/>
          </a:xfrm>
          <a:prstGeom prst="rect">
            <a:avLst/>
          </a:prstGeom>
        </p:spPr>
      </p:pic>
      <p:sp>
        <p:nvSpPr>
          <p:cNvPr id="10" name="Text 0"/>
          <p:cNvSpPr txBox="1"/>
          <p:nvPr/>
        </p:nvSpPr>
        <p:spPr>
          <a:xfrm>
            <a:off x="1389888" y="466344"/>
            <a:ext cx="130484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3600" b="1" dirty="0">
                <a:solidFill>
                  <a:srgbClr val="1B2022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本次完成、正式范围与下一步</a:t>
            </a:r>
            <a:endParaRPr lang="en-US" sz="3600" dirty="0"/>
          </a:p>
        </p:txBody>
      </p:sp>
      <p:sp>
        <p:nvSpPr>
          <p:cNvPr id="11" name="Text 1"/>
          <p:cNvSpPr txBox="1"/>
          <p:nvPr/>
        </p:nvSpPr>
        <p:spPr>
          <a:xfrm>
            <a:off x="5138928" y="2980944"/>
            <a:ext cx="2148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en-US" sz="1800" b="1" dirty="0">
                <a:solidFill>
                  <a:srgbClr val="FFFFFF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制定计划</a:t>
            </a:r>
            <a:endParaRPr lang="en-US" sz="1800" dirty="0"/>
          </a:p>
        </p:txBody>
      </p:sp>
      <p:sp>
        <p:nvSpPr>
          <p:cNvPr id="12" name="Text 2"/>
          <p:cNvSpPr txBox="1"/>
          <p:nvPr/>
        </p:nvSpPr>
        <p:spPr>
          <a:xfrm>
            <a:off x="5138928" y="5833872"/>
            <a:ext cx="2148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en-US" sz="1800" b="1" dirty="0">
                <a:solidFill>
                  <a:srgbClr val="FFFFFF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总结优化</a:t>
            </a:r>
            <a:endParaRPr lang="en-US" sz="1800" dirty="0"/>
          </a:p>
        </p:txBody>
      </p:sp>
      <p:sp>
        <p:nvSpPr>
          <p:cNvPr id="13" name="Text 3"/>
          <p:cNvSpPr txBox="1"/>
          <p:nvPr/>
        </p:nvSpPr>
        <p:spPr>
          <a:xfrm>
            <a:off x="8092440" y="5833872"/>
            <a:ext cx="2148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en-US" sz="1800" b="1" dirty="0">
                <a:solidFill>
                  <a:srgbClr val="FFFFFF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分析复盘</a:t>
            </a:r>
            <a:endParaRPr lang="en-US" sz="1800" dirty="0"/>
          </a:p>
        </p:txBody>
      </p:sp>
      <p:sp>
        <p:nvSpPr>
          <p:cNvPr id="14" name="Text 4"/>
          <p:cNvSpPr txBox="1"/>
          <p:nvPr/>
        </p:nvSpPr>
        <p:spPr>
          <a:xfrm>
            <a:off x="8092440" y="2980944"/>
            <a:ext cx="2148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en-US" sz="1800" b="1" dirty="0">
                <a:solidFill>
                  <a:srgbClr val="FFFFFF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实施执行</a:t>
            </a:r>
            <a:endParaRPr lang="en-US" sz="1800" dirty="0"/>
          </a:p>
        </p:txBody>
      </p:sp>
      <p:sp>
        <p:nvSpPr>
          <p:cNvPr id="15" name="Text 5"/>
          <p:cNvSpPr txBox="1"/>
          <p:nvPr/>
        </p:nvSpPr>
        <p:spPr>
          <a:xfrm>
            <a:off x="1005840" y="2029968"/>
            <a:ext cx="3639312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zh-CN" altLang="zh-CN" sz="14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本次交付规格涵盖六大核心模块：全套技术文档体系、统一格式的人工推演表（含</a:t>
            </a:r>
            <a:r>
              <a:rPr lang="en-US" altLang="zh-CN" sz="14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sz="14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步完整状态记录）、工作台</a:t>
            </a:r>
            <a:r>
              <a:rPr lang="en-US" altLang="zh-CN" sz="14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UI</a:t>
            </a:r>
            <a:r>
              <a:rPr lang="zh-CN" altLang="zh-CN" sz="14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布局与精确行为规范、知识卡片与题目最小验证集、算法用例验收检查表及三组对比案例设计、严格匹配自定义要求的</a:t>
            </a:r>
            <a:r>
              <a:rPr lang="en-US" altLang="zh-CN" sz="14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PPT</a:t>
            </a:r>
            <a:r>
              <a:rPr lang="zh-CN" altLang="zh-CN" sz="14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提纲与博客结构</a:t>
            </a:r>
            <a:endParaRPr lang="en-US" sz="1400" dirty="0"/>
          </a:p>
        </p:txBody>
      </p:sp>
      <p:sp>
        <p:nvSpPr>
          <p:cNvPr id="16" name="Text 6"/>
          <p:cNvSpPr txBox="1"/>
          <p:nvPr/>
        </p:nvSpPr>
        <p:spPr>
          <a:xfrm>
            <a:off x="1005840" y="4946904"/>
            <a:ext cx="3639312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4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交付物质量需从三方面强化：文档完整性核查确保无遗漏项、推演表可读性优化提升教学效果、UI逻辑与知识卡标记状态（verified=false）建立追踪机制。建议建立缺陷分级标准，明确“修复”与“新增”边界，为后续开发阶段预留弹性空间。</a:t>
            </a:r>
            <a:endParaRPr lang="en-US" sz="1400" dirty="0"/>
          </a:p>
        </p:txBody>
      </p:sp>
      <p:sp>
        <p:nvSpPr>
          <p:cNvPr id="17" name="Text 7"/>
          <p:cNvSpPr txBox="1"/>
          <p:nvPr/>
        </p:nvSpPr>
        <p:spPr>
          <a:xfrm>
            <a:off x="10753344" y="4946904"/>
            <a:ext cx="3639312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4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复盘显示规格阶段聚焦“可解释、可交互、可验证”核心目标，成功剥离付费模型调用、教师端报表、跨设备同步3项非必要功能，避免范围蔓延。人工推演表与UI行为规范的标准化输出，为引擎真输出对接奠定接口契约基础。</a:t>
            </a:r>
            <a:endParaRPr lang="en-US" sz="1400" dirty="0"/>
          </a:p>
        </p:txBody>
      </p:sp>
      <p:sp>
        <p:nvSpPr>
          <p:cNvPr id="18" name="Text 8"/>
          <p:cNvSpPr txBox="1"/>
          <p:nvPr/>
        </p:nvSpPr>
        <p:spPr>
          <a:xfrm>
            <a:off x="10753344" y="2029968"/>
            <a:ext cx="36393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400" dirty="0">
                <a:solidFill>
                  <a:srgbClr val="4D5B61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严格按15–22日里程碑推进：15日完成契约登记与截图归档；16–17日首轮集成实现引擎真输出与动画前端对接；20日交付真实效果报告及PPT/博客草稿；22日冻结范围后，23–24日仅执行缺陷修复、复测验证与演练准备，无任何功能新增。</a:t>
            </a:r>
            <a:endParaRPr lang="en-US" sz="1400" dirty="0"/>
          </a:p>
        </p:txBody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7240" y="457200"/>
            <a:ext cx="612648" cy="85953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44968" y="5577840"/>
            <a:ext cx="1271016" cy="6675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740664" cy="8567928"/>
          </a:xfrm>
          <a:prstGeom prst="rect">
            <a:avLst/>
          </a:prstGeom>
          <a:solidFill>
            <a:srgbClr val="6DC947"/>
          </a:solidFill>
          <a:ln/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  <p:txBody>
          <a:bodyPr wrap="square" lIns="254" tIns="254" rIns="254" bIns="254" rtlCol="0" anchor="ctr"/>
          <a:lstStyle/>
          <a:p>
            <a:pPr algn="ctr">
              <a:lnSpc>
                <a:spcPct val="125000"/>
              </a:lnSpc>
            </a:pPr>
            <a:r>
              <a:rPr lang="en-US" sz="1400" dirty="0">
                <a:solidFill>
                  <a:srgbClr val="FFFFFF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 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1325880" y="2642616"/>
            <a:ext cx="6291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7200" b="1" dirty="0">
                <a:solidFill>
                  <a:srgbClr val="1B2022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谢谢观看</a:t>
            </a:r>
            <a:endParaRPr lang="en-US" sz="7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0312" y="265176"/>
            <a:ext cx="320040" cy="62179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325879" y="6556248"/>
            <a:ext cx="4056611" cy="623870"/>
          </a:xfrm>
          <a:prstGeom prst="rect">
            <a:avLst/>
          </a:prstGeom>
          <a:solidFill>
            <a:srgbClr val="389E0D"/>
          </a:solidFill>
          <a:ln/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1325880" y="7333488"/>
            <a:ext cx="164592" cy="164592"/>
          </a:xfrm>
          <a:prstGeom prst="ellipse">
            <a:avLst/>
          </a:prstGeom>
          <a:solidFill>
            <a:srgbClr val="389E0D"/>
          </a:solidFill>
          <a:ln/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1554480" y="7333488"/>
            <a:ext cx="164592" cy="164592"/>
          </a:xfrm>
          <a:prstGeom prst="ellipse">
            <a:avLst/>
          </a:prstGeom>
          <a:solidFill>
            <a:srgbClr val="389E0D"/>
          </a:solidFill>
          <a:ln/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1783080" y="7333488"/>
            <a:ext cx="164592" cy="164592"/>
          </a:xfrm>
          <a:prstGeom prst="ellipse">
            <a:avLst/>
          </a:prstGeom>
          <a:noFill/>
          <a:ln w="19050">
            <a:solidFill>
              <a:srgbClr val="389E0D"/>
            </a:solidFill>
            <a:prstDash val="solid"/>
            <a:headEnd type="none"/>
            <a:tailEnd type="none"/>
          </a:ln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2002536" y="7333488"/>
            <a:ext cx="164592" cy="164592"/>
          </a:xfrm>
          <a:prstGeom prst="ellipse">
            <a:avLst/>
          </a:prstGeom>
          <a:noFill/>
          <a:ln w="19050">
            <a:solidFill>
              <a:srgbClr val="389E0D"/>
            </a:solidFill>
            <a:prstDash val="solid"/>
            <a:headEnd type="none"/>
            <a:tailEnd type="none"/>
          </a:ln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2231136" y="7333488"/>
            <a:ext cx="164592" cy="164592"/>
          </a:xfrm>
          <a:prstGeom prst="ellipse">
            <a:avLst/>
          </a:prstGeom>
          <a:noFill/>
          <a:ln w="19050">
            <a:solidFill>
              <a:srgbClr val="389E0D"/>
            </a:solidFill>
            <a:prstDash val="solid"/>
            <a:headEnd type="none"/>
            <a:tailEnd type="none"/>
          </a:ln>
          <a:effectLst>
            <a:outerShdw blurRad="101600" dist="50800" dir="16200000" algn="bl" rotWithShape="0">
              <a:srgbClr val="000000">
                <a:alpha val="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1335024" y="859536"/>
            <a:ext cx="1673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400" dirty="0">
                <a:solidFill>
                  <a:srgbClr val="1B202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YOUR LOGO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1618488" y="6611112"/>
            <a:ext cx="3410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en-US" sz="1600" dirty="0" err="1">
                <a:solidFill>
                  <a:srgbClr val="FFFFFF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汇报人</a:t>
            </a:r>
            <a:r>
              <a:rPr lang="en-US" sz="1600" dirty="0">
                <a:solidFill>
                  <a:srgbClr val="FFFFFF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：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1335024" y="4050792"/>
            <a:ext cx="5998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800" dirty="0">
                <a:solidFill>
                  <a:srgbClr val="1B2022"/>
                </a:solidFill>
                <a:latin typeface="Source Han Sans CN Regular" pitchFamily="34" charset="0"/>
                <a:ea typeface="Source Han Sans CN Regular" pitchFamily="34" charset="-122"/>
                <a:cs typeface="Source Han Sans CN Regular" pitchFamily="34" charset="-120"/>
              </a:rPr>
              <a:t>感谢聆听 期待合作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471</TotalTime>
  <Words>1901</Words>
  <Application>Microsoft Office PowerPoint</Application>
  <PresentationFormat>自定义</PresentationFormat>
  <Paragraphs>275</Paragraphs>
  <Slides>25</Slides>
  <Notes>25</Notes>
  <HiddenSlides>0</HiddenSlides>
  <MMClips>1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3" baseType="lpstr">
      <vt:lpstr>SimSun-ExtG</vt:lpstr>
      <vt:lpstr>等线</vt:lpstr>
      <vt:lpstr>Arial</vt:lpstr>
      <vt:lpstr>Source Han Sans CN Regular</vt:lpstr>
      <vt:lpstr>等线 Light</vt:lpstr>
      <vt:lpstr>Barlow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PPTGO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二分查找学习辅助系统：可解释、可交互、可验证的算法教学平台</dc:title>
  <dc:subject>二分查找学习辅助系统：可解释、可交互、可验证的算法教学平台</dc:subject>
  <dc:creator>贺</dc:creator>
  <cp:lastModifiedBy>运昆 刘</cp:lastModifiedBy>
  <cp:revision>7</cp:revision>
  <dcterms:created xsi:type="dcterms:W3CDTF">2026-10-20T13:02:00Z</dcterms:created>
  <dcterms:modified xsi:type="dcterms:W3CDTF">2026-10-22T08:07:10Z</dcterms:modified>
</cp:coreProperties>
</file>